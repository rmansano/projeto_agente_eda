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73" r:id="rId13"/>
    <p:sldId id="272" r:id="rId14"/>
    <p:sldId id="271" r:id="rId15"/>
    <p:sldId id="274" r:id="rId16"/>
    <p:sldId id="266" r:id="rId17"/>
    <p:sldId id="275" r:id="rId18"/>
    <p:sldId id="276" r:id="rId19"/>
    <p:sldId id="267" r:id="rId20"/>
    <p:sldId id="268" r:id="rId21"/>
    <p:sldId id="269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‹nº›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‹nº›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6844" y="1188364"/>
            <a:ext cx="5486400" cy="4754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17564" y="1188364"/>
            <a:ext cx="5486400" cy="4754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‹nº›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‹nº›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‹nº›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355" y="-355"/>
            <a:ext cx="12161520" cy="822960"/>
          </a:xfrm>
          <a:custGeom>
            <a:avLst/>
            <a:gdLst/>
            <a:ahLst/>
            <a:cxnLst/>
            <a:rect l="l" t="t" r="r" b="b"/>
            <a:pathLst>
              <a:path w="12161520" h="822960">
                <a:moveTo>
                  <a:pt x="12161151" y="0"/>
                </a:moveTo>
                <a:lnTo>
                  <a:pt x="0" y="0"/>
                </a:lnTo>
                <a:lnTo>
                  <a:pt x="0" y="822591"/>
                </a:lnTo>
                <a:lnTo>
                  <a:pt x="6080760" y="822591"/>
                </a:lnTo>
                <a:lnTo>
                  <a:pt x="12161151" y="822591"/>
                </a:lnTo>
                <a:lnTo>
                  <a:pt x="12161151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-355"/>
            <a:ext cx="12161520" cy="822960"/>
          </a:xfrm>
          <a:custGeom>
            <a:avLst/>
            <a:gdLst/>
            <a:ahLst/>
            <a:cxnLst/>
            <a:rect l="l" t="t" r="r" b="b"/>
            <a:pathLst>
              <a:path w="12161520" h="822960">
                <a:moveTo>
                  <a:pt x="6080760" y="822591"/>
                </a:moveTo>
                <a:lnTo>
                  <a:pt x="0" y="822591"/>
                </a:lnTo>
                <a:lnTo>
                  <a:pt x="0" y="0"/>
                </a:lnTo>
                <a:lnTo>
                  <a:pt x="12161151" y="0"/>
                </a:lnTo>
                <a:lnTo>
                  <a:pt x="12161151" y="822591"/>
                </a:lnTo>
                <a:lnTo>
                  <a:pt x="6080760" y="822591"/>
                </a:lnTo>
                <a:close/>
              </a:path>
            </a:pathLst>
          </a:custGeom>
          <a:ln w="12599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44" y="200418"/>
            <a:ext cx="520192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6241" y="1094421"/>
            <a:ext cx="11329035" cy="3289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4136" y="6507344"/>
            <a:ext cx="161988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37580" y="6507344"/>
            <a:ext cx="132715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F4F4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‹nº›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25" dirty="0"/>
              <a:t>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pi-docs.deepseek.com/news/news0802" TargetMode="External"/><Relationship Id="rId2" Type="http://schemas.openxmlformats.org/officeDocument/2006/relationships/hyperlink" Target="https://api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655" y="-6655"/>
            <a:ext cx="378460" cy="6870700"/>
            <a:chOff x="-6655" y="-6655"/>
            <a:chExt cx="378460" cy="6870700"/>
          </a:xfrm>
        </p:grpSpPr>
        <p:sp>
          <p:nvSpPr>
            <p:cNvPr id="4" name="object 4"/>
            <p:cNvSpPr/>
            <p:nvPr/>
          </p:nvSpPr>
          <p:spPr>
            <a:xfrm>
              <a:off x="-355" y="-355"/>
              <a:ext cx="365760" cy="6858000"/>
            </a:xfrm>
            <a:custGeom>
              <a:avLst/>
              <a:gdLst/>
              <a:ahLst/>
              <a:cxnLst/>
              <a:rect l="l" t="t" r="r" b="b"/>
              <a:pathLst>
                <a:path w="365760" h="6858000">
                  <a:moveTo>
                    <a:pt x="36539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182880" y="6857631"/>
                  </a:lnTo>
                  <a:lnTo>
                    <a:pt x="365391" y="6857631"/>
                  </a:lnTo>
                  <a:lnTo>
                    <a:pt x="365391" y="0"/>
                  </a:lnTo>
                  <a:close/>
                </a:path>
              </a:pathLst>
            </a:custGeom>
            <a:solidFill>
              <a:srgbClr val="C74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355" y="-355"/>
              <a:ext cx="365760" cy="6858000"/>
            </a:xfrm>
            <a:custGeom>
              <a:avLst/>
              <a:gdLst/>
              <a:ahLst/>
              <a:cxnLst/>
              <a:rect l="l" t="t" r="r" b="b"/>
              <a:pathLst>
                <a:path w="365760" h="6858000">
                  <a:moveTo>
                    <a:pt x="182880" y="6857631"/>
                  </a:moveTo>
                  <a:lnTo>
                    <a:pt x="0" y="6857631"/>
                  </a:lnTo>
                  <a:lnTo>
                    <a:pt x="0" y="0"/>
                  </a:lnTo>
                  <a:lnTo>
                    <a:pt x="365391" y="0"/>
                  </a:lnTo>
                  <a:lnTo>
                    <a:pt x="365391" y="6857631"/>
                  </a:lnTo>
                  <a:lnTo>
                    <a:pt x="182880" y="6857631"/>
                  </a:lnTo>
                  <a:close/>
                </a:path>
              </a:pathLst>
            </a:custGeom>
            <a:ln w="12599">
              <a:solidFill>
                <a:srgbClr val="C74F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74216" y="1465110"/>
            <a:ext cx="1479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600" b="1" spc="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6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6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600" b="1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600" b="1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5702" y="1465110"/>
            <a:ext cx="8197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600" b="1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b="1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b="1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174216" y="2212099"/>
            <a:ext cx="1086538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4400" dirty="0"/>
              <a:t>Agente de Análise Exploratória de Dados em Linguagem Natural</a:t>
            </a:r>
            <a:endParaRPr sz="4400" dirty="0"/>
          </a:p>
        </p:txBody>
      </p:sp>
      <p:sp>
        <p:nvSpPr>
          <p:cNvPr id="10" name="object 10"/>
          <p:cNvSpPr/>
          <p:nvPr/>
        </p:nvSpPr>
        <p:spPr>
          <a:xfrm>
            <a:off x="1097280" y="3931920"/>
            <a:ext cx="2743200" cy="635"/>
          </a:xfrm>
          <a:custGeom>
            <a:avLst/>
            <a:gdLst/>
            <a:ahLst/>
            <a:cxnLst/>
            <a:rect l="l" t="t" r="r" b="b"/>
            <a:pathLst>
              <a:path w="2743200" h="635">
                <a:moveTo>
                  <a:pt x="0" y="0"/>
                </a:moveTo>
                <a:lnTo>
                  <a:pt x="2743199" y="355"/>
                </a:lnTo>
              </a:path>
            </a:pathLst>
          </a:custGeom>
          <a:ln w="25559">
            <a:solidFill>
              <a:srgbClr val="C74F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4216" y="4269143"/>
            <a:ext cx="27647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Dataset:</a:t>
            </a:r>
            <a:r>
              <a:rPr lang="pt-BR"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pt-BR" sz="1400" dirty="0">
                <a:solidFill>
                  <a:schemeClr val="bg1"/>
                </a:solidFill>
              </a:rPr>
              <a:t>Vendas E-commerce</a:t>
            </a:r>
            <a:endParaRPr sz="1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4216" y="5274983"/>
            <a:ext cx="7969784" cy="995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Grupo</a:t>
            </a:r>
            <a:r>
              <a:rPr sz="1400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lang="pt-BR" sz="14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pt-BR" sz="1400" dirty="0">
                <a:solidFill>
                  <a:schemeClr val="bg1"/>
                </a:solidFill>
                <a:latin typeface="+mj-lt"/>
              </a:rPr>
              <a:t>Rafael Marques Mansano</a:t>
            </a:r>
            <a:r>
              <a:rPr sz="1400" spc="-10" dirty="0">
                <a:solidFill>
                  <a:schemeClr val="bg1"/>
                </a:solidFill>
                <a:latin typeface="+mj-lt"/>
                <a:cs typeface="Calibri"/>
              </a:rPr>
              <a:t> </a:t>
            </a:r>
            <a:r>
              <a:rPr sz="1400" dirty="0">
                <a:solidFill>
                  <a:schemeClr val="bg1"/>
                </a:solidFill>
                <a:latin typeface="+mj-lt"/>
                <a:cs typeface="Calibri"/>
              </a:rPr>
              <a:t>|</a:t>
            </a:r>
            <a:r>
              <a:rPr sz="1400" spc="-15" dirty="0">
                <a:solidFill>
                  <a:schemeClr val="bg1"/>
                </a:solidFill>
                <a:latin typeface="+mj-lt"/>
                <a:cs typeface="Calibri"/>
              </a:rPr>
              <a:t> </a:t>
            </a:r>
            <a:r>
              <a:rPr lang="pt-BR" sz="1400" dirty="0">
                <a:solidFill>
                  <a:schemeClr val="bg1"/>
                </a:solidFill>
                <a:latin typeface="+mj-lt"/>
              </a:rPr>
              <a:t>Vinicius de Oliveira Silva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i="1" spc="-10" dirty="0">
                <a:solidFill>
                  <a:srgbClr val="FFFFFF"/>
                </a:solidFill>
                <a:latin typeface="Calibri"/>
                <a:cs typeface="Calibri"/>
              </a:rPr>
              <a:t>Tecnologia</a:t>
            </a:r>
            <a:r>
              <a:rPr sz="12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2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FFFFFF"/>
                </a:solidFill>
                <a:latin typeface="Calibri"/>
                <a:cs typeface="Calibri"/>
              </a:rPr>
              <a:t>Ciência</a:t>
            </a:r>
            <a:r>
              <a:rPr sz="12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2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FFFFFF"/>
                </a:solidFill>
                <a:latin typeface="Calibri"/>
                <a:cs typeface="Calibri"/>
              </a:rPr>
              <a:t>Dados</a:t>
            </a:r>
            <a:r>
              <a:rPr sz="12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2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FFFFFF"/>
                </a:solidFill>
                <a:latin typeface="Calibri"/>
                <a:cs typeface="Calibri"/>
              </a:rPr>
              <a:t>5º</a:t>
            </a:r>
            <a:r>
              <a:rPr sz="12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Calibri"/>
                <a:cs typeface="Calibri"/>
              </a:rPr>
              <a:t>Semestre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Fatec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Calibri"/>
                <a:cs typeface="Calibri"/>
              </a:rPr>
              <a:t>Ourinhos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lang="pt-BR" sz="1100" dirty="0">
                <a:solidFill>
                  <a:srgbClr val="FFFFFF"/>
                </a:solidFill>
                <a:latin typeface="Calibri"/>
                <a:cs typeface="Calibri"/>
              </a:rPr>
              <a:t> 15/06/2026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Agenda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1336" y="1794788"/>
            <a:ext cx="2747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1.</a:t>
            </a:r>
            <a:r>
              <a:rPr sz="1800" b="1" spc="-2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O</a:t>
            </a:r>
            <a:r>
              <a:rPr sz="1800" b="1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problema</a:t>
            </a:r>
            <a:r>
              <a:rPr sz="1800" b="1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e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a</a:t>
            </a:r>
            <a:r>
              <a:rPr sz="1800" b="1" spc="-2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motivação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336" y="2667774"/>
            <a:ext cx="212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2.</a:t>
            </a:r>
            <a:r>
              <a:rPr sz="1800" b="1" spc="-3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O</a:t>
            </a:r>
            <a:r>
              <a:rPr sz="1800" b="1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dataset</a:t>
            </a:r>
            <a:r>
              <a:rPr sz="1800" b="1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escolhido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4612" y="3540760"/>
            <a:ext cx="2345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3.</a:t>
            </a:r>
            <a:r>
              <a:rPr sz="1800" b="1" spc="-2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Arquitetura</a:t>
            </a:r>
            <a:r>
              <a:rPr sz="1800" b="1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do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 agente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336" y="4415612"/>
            <a:ext cx="2964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4.</a:t>
            </a:r>
            <a:r>
              <a:rPr sz="1800" b="1" spc="-3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Ferramentas</a:t>
            </a:r>
            <a:r>
              <a:rPr sz="1800" b="1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implementadas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8768" y="5288598"/>
            <a:ext cx="2361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5.</a:t>
            </a:r>
            <a:r>
              <a:rPr sz="1800" b="1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Demonstração</a:t>
            </a:r>
            <a:r>
              <a:rPr sz="1800" b="1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ao</a:t>
            </a:r>
            <a:r>
              <a:rPr sz="1800" b="1" spc="-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3366"/>
                </a:solidFill>
                <a:latin typeface="Calibri"/>
                <a:cs typeface="Calibri"/>
              </a:rPr>
              <a:t>vivo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4330" y="1794788"/>
            <a:ext cx="3604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6.</a:t>
            </a:r>
            <a:r>
              <a:rPr sz="1800" b="1" spc="-5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Conjunto</a:t>
            </a:r>
            <a:r>
              <a:rPr sz="1800" b="1" spc="-4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de</a:t>
            </a:r>
            <a:r>
              <a:rPr sz="1800" b="1" spc="-5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avaliação</a:t>
            </a:r>
            <a:r>
              <a:rPr sz="1800" b="1" spc="-4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(benchmark)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1155" y="2665908"/>
            <a:ext cx="2593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7.</a:t>
            </a:r>
            <a:r>
              <a:rPr sz="1800" b="1" spc="-5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Resultados</a:t>
            </a:r>
            <a:r>
              <a:rPr sz="1800" b="1" spc="-4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quantitativos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1155" y="3540760"/>
            <a:ext cx="2973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8.</a:t>
            </a:r>
            <a:r>
              <a:rPr sz="1800" b="1" spc="-2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Análise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de</a:t>
            </a:r>
            <a:r>
              <a:rPr sz="1800" b="1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trajetórias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e</a:t>
            </a:r>
            <a:r>
              <a:rPr sz="1800" b="1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3366"/>
                </a:solidFill>
                <a:latin typeface="Calibri"/>
                <a:cs typeface="Calibri"/>
              </a:rPr>
              <a:t>erros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01155" y="4415612"/>
            <a:ext cx="1805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9.</a:t>
            </a:r>
            <a:r>
              <a:rPr sz="1800" b="1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Discussão</a:t>
            </a:r>
            <a:r>
              <a:rPr sz="1800" b="1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crítica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1155" y="5288598"/>
            <a:ext cx="3282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10.</a:t>
            </a:r>
            <a:r>
              <a:rPr sz="1800" b="1" spc="-3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Conclusões</a:t>
            </a:r>
            <a:r>
              <a:rPr sz="1800" b="1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e</a:t>
            </a:r>
            <a:r>
              <a:rPr sz="1800" b="1" spc="-3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66"/>
                </a:solidFill>
                <a:latin typeface="Calibri"/>
                <a:cs typeface="Calibri"/>
              </a:rPr>
              <a:t>trabalhos</a:t>
            </a:r>
            <a:r>
              <a:rPr sz="1800" b="1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66"/>
                </a:solidFill>
                <a:latin typeface="Calibri"/>
                <a:cs typeface="Calibri"/>
              </a:rPr>
              <a:t>futuros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40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problema</a:t>
            </a:r>
            <a:r>
              <a:rPr spc="-35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motivação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6844" y="1144812"/>
            <a:ext cx="3199664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20" dirty="0">
                <a:solidFill>
                  <a:srgbClr val="003366"/>
                </a:solidFill>
                <a:latin typeface="Calibri"/>
                <a:cs typeface="Calibri"/>
              </a:rPr>
              <a:t>Pergunta</a:t>
            </a:r>
            <a:r>
              <a:rPr sz="2400" b="1" spc="-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Calibri"/>
                <a:cs typeface="Calibri"/>
              </a:rPr>
              <a:t>orientadora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1604" y="1977636"/>
            <a:ext cx="11278312" cy="993221"/>
          </a:xfrm>
          <a:custGeom>
            <a:avLst/>
            <a:gdLst/>
            <a:ahLst/>
            <a:cxnLst/>
            <a:rect l="l" t="t" r="r" b="b"/>
            <a:pathLst>
              <a:path w="11247120" h="1097280">
                <a:moveTo>
                  <a:pt x="11246751" y="0"/>
                </a:moveTo>
                <a:lnTo>
                  <a:pt x="0" y="0"/>
                </a:lnTo>
                <a:lnTo>
                  <a:pt x="0" y="1096911"/>
                </a:lnTo>
                <a:lnTo>
                  <a:pt x="5623560" y="1096911"/>
                </a:lnTo>
                <a:lnTo>
                  <a:pt x="11246751" y="1096911"/>
                </a:lnTo>
                <a:lnTo>
                  <a:pt x="1124675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6844" y="1977992"/>
            <a:ext cx="11278312" cy="993221"/>
          </a:xfrm>
          <a:prstGeom prst="rect">
            <a:avLst/>
          </a:prstGeom>
          <a:ln w="12599">
            <a:solidFill>
              <a:srgbClr val="003366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72415" marR="496570">
              <a:lnSpc>
                <a:spcPct val="100000"/>
              </a:lnSpc>
              <a:spcBef>
                <a:spcPts val="5"/>
              </a:spcBef>
            </a:pPr>
            <a:r>
              <a:rPr lang="pt-BR" sz="1400" dirty="0"/>
              <a:t>O agente consegue responder perguntas sobre um </a:t>
            </a:r>
            <a:r>
              <a:rPr lang="pt-BR" sz="1400" i="1" dirty="0" err="1"/>
              <a:t>dataset</a:t>
            </a:r>
            <a:r>
              <a:rPr lang="pt-BR" sz="1400" dirty="0"/>
              <a:t> CSV utilizando linguagem natural e ferramentas Python, realizando cálculos reais sobre os dados?</a:t>
            </a:r>
          </a:p>
          <a:p>
            <a:pPr marL="272415" marR="496570">
              <a:lnSpc>
                <a:spcPct val="100000"/>
              </a:lnSpc>
              <a:spcBef>
                <a:spcPts val="5"/>
              </a:spcBef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844" y="3521471"/>
            <a:ext cx="5111928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dirty="0">
                <a:solidFill>
                  <a:srgbClr val="003366"/>
                </a:solidFill>
                <a:latin typeface="Calibri"/>
                <a:cs typeface="Calibri"/>
              </a:rPr>
              <a:t>Por</a:t>
            </a:r>
            <a:r>
              <a:rPr sz="2400" b="1" spc="-4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66"/>
                </a:solidFill>
                <a:latin typeface="Calibri"/>
                <a:cs typeface="Calibri"/>
              </a:rPr>
              <a:t>que</a:t>
            </a:r>
            <a:r>
              <a:rPr sz="2400" b="1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66"/>
                </a:solidFill>
                <a:latin typeface="Calibri"/>
                <a:cs typeface="Calibri"/>
              </a:rPr>
              <a:t>esse</a:t>
            </a:r>
            <a:r>
              <a:rPr sz="2400" b="1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Calibri"/>
                <a:cs typeface="Calibri"/>
              </a:rPr>
              <a:t>problema</a:t>
            </a:r>
            <a:r>
              <a:rPr sz="2400" b="1" spc="-4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Calibri"/>
                <a:cs typeface="Calibri"/>
              </a:rPr>
              <a:t>importa?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6844" y="4436722"/>
            <a:ext cx="88900" cy="8953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400" spc="-50" dirty="0">
                <a:solidFill>
                  <a:srgbClr val="191919"/>
                </a:solidFill>
                <a:latin typeface="Arial"/>
                <a:cs typeface="Arial"/>
              </a:rPr>
              <a:t>•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spc="-50" dirty="0">
                <a:solidFill>
                  <a:srgbClr val="191919"/>
                </a:solidFill>
                <a:latin typeface="Arial"/>
                <a:cs typeface="Arial"/>
              </a:rPr>
              <a:t>•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400" spc="-50" dirty="0">
                <a:solidFill>
                  <a:srgbClr val="191919"/>
                </a:solidFill>
                <a:latin typeface="Arial"/>
                <a:cs typeface="Arial"/>
              </a:rPr>
              <a:t>•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200" y="4453956"/>
            <a:ext cx="7504786" cy="8903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100"/>
              </a:spcBef>
            </a:pPr>
            <a:r>
              <a:rPr lang="pt-BR" sz="1400" dirty="0"/>
              <a:t>Tornar a análise de dados acessível para usuários sem conhecimento em programação.</a:t>
            </a:r>
          </a:p>
          <a:p>
            <a:pPr marL="12700" marR="5080">
              <a:lnSpc>
                <a:spcPct val="135800"/>
              </a:lnSpc>
              <a:spcBef>
                <a:spcPts val="100"/>
              </a:spcBef>
            </a:pPr>
            <a:r>
              <a:rPr lang="pt-BR" sz="1400" dirty="0"/>
              <a:t>Permitir consultas em português sem necessidade de escrever código.</a:t>
            </a:r>
          </a:p>
          <a:p>
            <a:pPr marL="12700" marR="5080">
              <a:lnSpc>
                <a:spcPct val="135800"/>
              </a:lnSpc>
              <a:spcBef>
                <a:spcPts val="100"/>
              </a:spcBef>
            </a:pPr>
            <a:r>
              <a:rPr lang="pt-BR" sz="1400" dirty="0"/>
              <a:t>Reduzir alucinações utilizando ferramentas que executam operações reais no </a:t>
            </a:r>
            <a:r>
              <a:rPr lang="pt-BR" sz="1400" i="1" dirty="0" err="1"/>
              <a:t>dataset</a:t>
            </a:r>
            <a:r>
              <a:rPr lang="pt-BR" sz="1400" dirty="0"/>
              <a:t>.</a:t>
            </a:r>
            <a:endParaRPr lang="pt-BR" sz="1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55" dirty="0"/>
              <a:t> </a:t>
            </a:r>
            <a:r>
              <a:rPr dirty="0"/>
              <a:t>O</a:t>
            </a:r>
            <a:r>
              <a:rPr spc="-70" dirty="0"/>
              <a:t> </a:t>
            </a:r>
            <a:r>
              <a:rPr dirty="0"/>
              <a:t>dataset</a:t>
            </a:r>
            <a:r>
              <a:rPr spc="-55" dirty="0"/>
              <a:t> </a:t>
            </a:r>
            <a:r>
              <a:rPr spc="-10" dirty="0"/>
              <a:t>escolhido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136" y="1145070"/>
            <a:ext cx="5111928" cy="20640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3366"/>
                </a:solidFill>
                <a:latin typeface="Calibri"/>
                <a:cs typeface="Calibri"/>
              </a:rPr>
              <a:t>Sobre</a:t>
            </a:r>
            <a:r>
              <a:rPr sz="1600" b="1" spc="-4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os</a:t>
            </a:r>
            <a:r>
              <a:rPr sz="1600" b="1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003366"/>
                </a:solidFill>
                <a:latin typeface="Calibri"/>
                <a:cs typeface="Calibri"/>
              </a:rPr>
              <a:t>dados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600" b="1" dirty="0">
                <a:solidFill>
                  <a:srgbClr val="191919"/>
                </a:solidFill>
                <a:latin typeface="Calibri"/>
                <a:cs typeface="Calibri"/>
              </a:rPr>
              <a:t>Nome</a:t>
            </a:r>
            <a:r>
              <a:rPr sz="1300" b="1" dirty="0">
                <a:solidFill>
                  <a:srgbClr val="191919"/>
                </a:solidFill>
                <a:latin typeface="Calibri"/>
                <a:cs typeface="Calibri"/>
              </a:rPr>
              <a:t>:</a:t>
            </a:r>
            <a:r>
              <a:rPr sz="1300" b="1" spc="-6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lang="pt-BR" sz="1400" dirty="0"/>
              <a:t>Vendas E-Commerce</a:t>
            </a: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600" b="1" spc="-10" dirty="0">
                <a:solidFill>
                  <a:srgbClr val="191919"/>
                </a:solidFill>
                <a:latin typeface="Calibri"/>
                <a:cs typeface="Calibri"/>
              </a:rPr>
              <a:t>Origem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:</a:t>
            </a:r>
            <a:r>
              <a:rPr sz="1300" b="1" spc="-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lang="pt-BR" sz="1400" i="1" dirty="0" err="1"/>
              <a:t>Dataset</a:t>
            </a:r>
            <a:r>
              <a:rPr lang="pt-BR" sz="1400" i="1" dirty="0"/>
              <a:t> </a:t>
            </a:r>
            <a:r>
              <a:rPr lang="pt-BR" sz="1400" dirty="0"/>
              <a:t>disponível como exemplo para a atividade</a:t>
            </a: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600" b="1" spc="-20" dirty="0">
                <a:solidFill>
                  <a:srgbClr val="191919"/>
                </a:solidFill>
                <a:latin typeface="Calibri"/>
                <a:cs typeface="Calibri"/>
              </a:rPr>
              <a:t>Tamanho</a:t>
            </a:r>
            <a:r>
              <a:rPr sz="1300" b="1" spc="-20" dirty="0">
                <a:solidFill>
                  <a:srgbClr val="191919"/>
                </a:solidFill>
                <a:latin typeface="Calibri"/>
                <a:cs typeface="Calibri"/>
              </a:rPr>
              <a:t>:</a:t>
            </a:r>
            <a:r>
              <a:rPr sz="1300" b="1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lang="pt-BR" sz="1400" dirty="0"/>
              <a:t>1.500 linhas × 10 colunas</a:t>
            </a: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600" b="1" spc="-10" dirty="0">
                <a:solidFill>
                  <a:srgbClr val="191919"/>
                </a:solidFill>
                <a:latin typeface="Calibri"/>
                <a:cs typeface="Calibri"/>
              </a:rPr>
              <a:t>Pré-</a:t>
            </a:r>
            <a:r>
              <a:rPr sz="1600" b="1" spc="-10" dirty="0" err="1">
                <a:solidFill>
                  <a:srgbClr val="191919"/>
                </a:solidFill>
                <a:latin typeface="Calibri"/>
                <a:cs typeface="Calibri"/>
              </a:rPr>
              <a:t>processamento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:</a:t>
            </a:r>
            <a:r>
              <a:rPr sz="1300" b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lang="pt-BR" sz="1400" dirty="0"/>
              <a:t>validação e carregamento em Pandas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7736" y="1145070"/>
            <a:ext cx="12979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Colunas</a:t>
            </a:r>
            <a:r>
              <a:rPr sz="1600" b="1" spc="-3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e</a:t>
            </a:r>
            <a:r>
              <a:rPr sz="1600" b="1" spc="-5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003366"/>
                </a:solidFill>
                <a:latin typeface="Calibri"/>
                <a:cs typeface="Calibri"/>
              </a:rPr>
              <a:t>tipos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45275"/>
              </p:ext>
            </p:extLst>
          </p:nvPr>
        </p:nvGraphicFramePr>
        <p:xfrm>
          <a:off x="6397941" y="1551621"/>
          <a:ext cx="5303520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Coluna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Exemplo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 err="1">
                          <a:latin typeface="Calibri"/>
                          <a:cs typeface="Calibri"/>
                        </a:rPr>
                        <a:t>Idade_cliente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Numérica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35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cidade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Categórica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São Paulo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categoria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Categórica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dirty="0">
                          <a:latin typeface="Calibri"/>
                          <a:cs typeface="Calibri"/>
                        </a:rPr>
                        <a:t>Eletrônicos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dirty="0">
                          <a:latin typeface="Calibri"/>
                          <a:cs typeface="Calibri"/>
                        </a:rPr>
                        <a:t>desconto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Numérica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dirty="0">
                          <a:latin typeface="Calibri"/>
                          <a:cs typeface="Calibri"/>
                        </a:rPr>
                        <a:t>0.15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 err="1">
                          <a:latin typeface="Calibri"/>
                          <a:cs typeface="Calibri"/>
                        </a:rPr>
                        <a:t>valor_total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Numérica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pt-BR" sz="1100" spc="-10" dirty="0">
                          <a:latin typeface="Calibri"/>
                          <a:cs typeface="Calibri"/>
                        </a:rPr>
                        <a:t>459.90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A9CE7605-6C29-A6FF-988A-C55091AEC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38" y="3441532"/>
            <a:ext cx="4730523" cy="29284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25" dirty="0"/>
              <a:t> </a:t>
            </a:r>
            <a:r>
              <a:rPr spc="-20" dirty="0"/>
              <a:t>Arquitetura</a:t>
            </a:r>
            <a:r>
              <a:rPr spc="-30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spc="-10" dirty="0"/>
              <a:t>agente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33006" y="2278926"/>
            <a:ext cx="1842135" cy="1110615"/>
            <a:chOff x="633006" y="2278926"/>
            <a:chExt cx="1842135" cy="1110615"/>
          </a:xfrm>
        </p:grpSpPr>
        <p:sp>
          <p:nvSpPr>
            <p:cNvPr id="5" name="object 5"/>
            <p:cNvSpPr/>
            <p:nvPr/>
          </p:nvSpPr>
          <p:spPr>
            <a:xfrm>
              <a:off x="639356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5" h="1097914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1006208"/>
                  </a:lnTo>
                  <a:lnTo>
                    <a:pt x="798" y="1018208"/>
                  </a:lnTo>
                  <a:lnTo>
                    <a:pt x="18843" y="1061965"/>
                  </a:lnTo>
                  <a:lnTo>
                    <a:pt x="56512" y="1090656"/>
                  </a:lnTo>
                  <a:lnTo>
                    <a:pt x="91439" y="1097648"/>
                  </a:lnTo>
                  <a:lnTo>
                    <a:pt x="1737728" y="1097648"/>
                  </a:lnTo>
                  <a:lnTo>
                    <a:pt x="1783448" y="1085405"/>
                  </a:lnTo>
                  <a:lnTo>
                    <a:pt x="1816925" y="1051928"/>
                  </a:lnTo>
                  <a:lnTo>
                    <a:pt x="1829168" y="1006208"/>
                  </a:lnTo>
                  <a:lnTo>
                    <a:pt x="1829143" y="91439"/>
                  </a:lnTo>
                  <a:lnTo>
                    <a:pt x="1816925" y="46088"/>
                  </a:lnTo>
                  <a:lnTo>
                    <a:pt x="1783448" y="12598"/>
                  </a:lnTo>
                  <a:lnTo>
                    <a:pt x="173772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9356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5" h="109791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737728" y="368"/>
                  </a:lnTo>
                  <a:lnTo>
                    <a:pt x="1783448" y="12598"/>
                  </a:lnTo>
                  <a:lnTo>
                    <a:pt x="1816925" y="46088"/>
                  </a:lnTo>
                  <a:lnTo>
                    <a:pt x="1829168" y="91808"/>
                  </a:lnTo>
                  <a:lnTo>
                    <a:pt x="1829168" y="1006208"/>
                  </a:lnTo>
                  <a:lnTo>
                    <a:pt x="1828368" y="1018208"/>
                  </a:lnTo>
                  <a:lnTo>
                    <a:pt x="1826013" y="1029873"/>
                  </a:lnTo>
                  <a:lnTo>
                    <a:pt x="1802477" y="1070957"/>
                  </a:lnTo>
                  <a:lnTo>
                    <a:pt x="1761393" y="1094493"/>
                  </a:lnTo>
                  <a:lnTo>
                    <a:pt x="1737728" y="1097648"/>
                  </a:lnTo>
                  <a:lnTo>
                    <a:pt x="91439" y="1097648"/>
                  </a:lnTo>
                  <a:lnTo>
                    <a:pt x="45719" y="1085405"/>
                  </a:lnTo>
                  <a:lnTo>
                    <a:pt x="12242" y="1051928"/>
                  </a:lnTo>
                  <a:lnTo>
                    <a:pt x="0" y="10062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81417" y="2623223"/>
            <a:ext cx="7448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Usuário (pergunta)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36126" y="2278926"/>
            <a:ext cx="1842135" cy="1110615"/>
            <a:chOff x="2736126" y="2278926"/>
            <a:chExt cx="1842135" cy="1110615"/>
          </a:xfrm>
        </p:grpSpPr>
        <p:sp>
          <p:nvSpPr>
            <p:cNvPr id="9" name="object 9"/>
            <p:cNvSpPr/>
            <p:nvPr/>
          </p:nvSpPr>
          <p:spPr>
            <a:xfrm>
              <a:off x="2742476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5" h="1097914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1006208"/>
                  </a:lnTo>
                  <a:lnTo>
                    <a:pt x="798" y="1018208"/>
                  </a:lnTo>
                  <a:lnTo>
                    <a:pt x="18843" y="1061965"/>
                  </a:lnTo>
                  <a:lnTo>
                    <a:pt x="56512" y="1090656"/>
                  </a:lnTo>
                  <a:lnTo>
                    <a:pt x="91439" y="1097648"/>
                  </a:lnTo>
                  <a:lnTo>
                    <a:pt x="1737728" y="1097648"/>
                  </a:lnTo>
                  <a:lnTo>
                    <a:pt x="1783448" y="1085405"/>
                  </a:lnTo>
                  <a:lnTo>
                    <a:pt x="1816925" y="1051928"/>
                  </a:lnTo>
                  <a:lnTo>
                    <a:pt x="1829168" y="1006208"/>
                  </a:lnTo>
                  <a:lnTo>
                    <a:pt x="1829143" y="91439"/>
                  </a:lnTo>
                  <a:lnTo>
                    <a:pt x="1816925" y="46088"/>
                  </a:lnTo>
                  <a:lnTo>
                    <a:pt x="1783448" y="12598"/>
                  </a:lnTo>
                  <a:lnTo>
                    <a:pt x="173772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4581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476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5" h="109791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737728" y="368"/>
                  </a:lnTo>
                  <a:lnTo>
                    <a:pt x="1783448" y="12598"/>
                  </a:lnTo>
                  <a:lnTo>
                    <a:pt x="1816925" y="46088"/>
                  </a:lnTo>
                  <a:lnTo>
                    <a:pt x="1829168" y="91808"/>
                  </a:lnTo>
                  <a:lnTo>
                    <a:pt x="1829168" y="1006208"/>
                  </a:lnTo>
                  <a:lnTo>
                    <a:pt x="1828368" y="1018208"/>
                  </a:lnTo>
                  <a:lnTo>
                    <a:pt x="1826013" y="1029873"/>
                  </a:lnTo>
                  <a:lnTo>
                    <a:pt x="1802477" y="1070957"/>
                  </a:lnTo>
                  <a:lnTo>
                    <a:pt x="1761393" y="1094493"/>
                  </a:lnTo>
                  <a:lnTo>
                    <a:pt x="1737728" y="1097648"/>
                  </a:lnTo>
                  <a:lnTo>
                    <a:pt x="91439" y="1097648"/>
                  </a:lnTo>
                  <a:lnTo>
                    <a:pt x="45719" y="1085405"/>
                  </a:lnTo>
                  <a:lnTo>
                    <a:pt x="12242" y="1051928"/>
                  </a:lnTo>
                  <a:lnTo>
                    <a:pt x="0" y="10062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37805" y="2523439"/>
            <a:ext cx="1160510" cy="6386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</a:pPr>
            <a:r>
              <a:rPr lang="pt-BR" sz="1300" b="1" spc="-10" dirty="0">
                <a:solidFill>
                  <a:srgbClr val="FFFFFF"/>
                </a:solidFill>
                <a:latin typeface="Calibri"/>
                <a:cs typeface="Calibri"/>
              </a:rPr>
              <a:t>Agente Loop</a:t>
            </a:r>
          </a:p>
          <a:p>
            <a:pPr marL="268605" marR="5080" indent="-256540">
              <a:lnSpc>
                <a:spcPct val="100000"/>
              </a:lnSpc>
              <a:spcBef>
                <a:spcPts val="100"/>
              </a:spcBef>
            </a:pPr>
            <a:r>
              <a:rPr lang="pt-BR" sz="1300" b="1" spc="-10" dirty="0">
                <a:solidFill>
                  <a:srgbClr val="FFFFFF"/>
                </a:solidFill>
                <a:latin typeface="Calibri"/>
                <a:cs typeface="Calibri"/>
              </a:rPr>
              <a:t>implementado </a:t>
            </a:r>
          </a:p>
          <a:p>
            <a:pPr marL="268605" marR="5080" indent="-256540">
              <a:lnSpc>
                <a:spcPct val="100000"/>
              </a:lnSpc>
              <a:spcBef>
                <a:spcPts val="100"/>
              </a:spcBef>
            </a:pPr>
            <a:r>
              <a:rPr lang="pt-BR" sz="1300" b="1" spc="-10" dirty="0">
                <a:solidFill>
                  <a:srgbClr val="FFFFFF"/>
                </a:solidFill>
                <a:latin typeface="Calibri"/>
                <a:cs typeface="Calibri"/>
              </a:rPr>
              <a:t>em </a:t>
            </a:r>
            <a:r>
              <a:rPr lang="pt-BR" sz="1300" b="1" spc="-10" dirty="0" err="1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39246" y="2278926"/>
            <a:ext cx="1842135" cy="1110615"/>
            <a:chOff x="4839246" y="2278926"/>
            <a:chExt cx="1842135" cy="1110615"/>
          </a:xfrm>
        </p:grpSpPr>
        <p:sp>
          <p:nvSpPr>
            <p:cNvPr id="13" name="object 13"/>
            <p:cNvSpPr/>
            <p:nvPr/>
          </p:nvSpPr>
          <p:spPr>
            <a:xfrm>
              <a:off x="4845596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4" h="1097914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1006208"/>
                  </a:lnTo>
                  <a:lnTo>
                    <a:pt x="798" y="1018208"/>
                  </a:lnTo>
                  <a:lnTo>
                    <a:pt x="18843" y="1061965"/>
                  </a:lnTo>
                  <a:lnTo>
                    <a:pt x="56512" y="1090656"/>
                  </a:lnTo>
                  <a:lnTo>
                    <a:pt x="91439" y="1097648"/>
                  </a:lnTo>
                  <a:lnTo>
                    <a:pt x="1737728" y="1097648"/>
                  </a:lnTo>
                  <a:lnTo>
                    <a:pt x="1783448" y="1085405"/>
                  </a:lnTo>
                  <a:lnTo>
                    <a:pt x="1816925" y="1051928"/>
                  </a:lnTo>
                  <a:lnTo>
                    <a:pt x="1829168" y="1006208"/>
                  </a:lnTo>
                  <a:lnTo>
                    <a:pt x="1829143" y="91439"/>
                  </a:lnTo>
                  <a:lnTo>
                    <a:pt x="1816925" y="46088"/>
                  </a:lnTo>
                  <a:lnTo>
                    <a:pt x="1783448" y="12598"/>
                  </a:lnTo>
                  <a:lnTo>
                    <a:pt x="173772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45596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4" h="109791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737728" y="368"/>
                  </a:lnTo>
                  <a:lnTo>
                    <a:pt x="1783448" y="12598"/>
                  </a:lnTo>
                  <a:lnTo>
                    <a:pt x="1816925" y="46088"/>
                  </a:lnTo>
                  <a:lnTo>
                    <a:pt x="1829168" y="91808"/>
                  </a:lnTo>
                  <a:lnTo>
                    <a:pt x="1829168" y="1006208"/>
                  </a:lnTo>
                  <a:lnTo>
                    <a:pt x="1828368" y="1018208"/>
                  </a:lnTo>
                  <a:lnTo>
                    <a:pt x="1826013" y="1029873"/>
                  </a:lnTo>
                  <a:lnTo>
                    <a:pt x="1802477" y="1070957"/>
                  </a:lnTo>
                  <a:lnTo>
                    <a:pt x="1761393" y="1094493"/>
                  </a:lnTo>
                  <a:lnTo>
                    <a:pt x="1737728" y="1097648"/>
                  </a:lnTo>
                  <a:lnTo>
                    <a:pt x="91439" y="1097648"/>
                  </a:lnTo>
                  <a:lnTo>
                    <a:pt x="45719" y="1085405"/>
                  </a:lnTo>
                  <a:lnTo>
                    <a:pt x="12242" y="1051928"/>
                  </a:lnTo>
                  <a:lnTo>
                    <a:pt x="0" y="10062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27273" y="2486184"/>
            <a:ext cx="996380" cy="612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LLM</a:t>
            </a:r>
            <a:endParaRPr sz="13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lang="pt-BR" sz="1300" dirty="0" err="1">
                <a:solidFill>
                  <a:schemeClr val="bg1"/>
                </a:solidFill>
                <a:latin typeface="Calibri"/>
                <a:cs typeface="Calibri"/>
              </a:rPr>
              <a:t>DeepSeek</a:t>
            </a:r>
            <a:r>
              <a:rPr lang="pt-BR" sz="1300" dirty="0">
                <a:solidFill>
                  <a:schemeClr val="bg1"/>
                </a:solidFill>
                <a:latin typeface="Calibri"/>
                <a:cs typeface="Calibri"/>
              </a:rPr>
              <a:t> v4 Flash</a:t>
            </a:r>
            <a:endParaRPr sz="13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942366" y="2278926"/>
            <a:ext cx="1842135" cy="1110615"/>
            <a:chOff x="6942366" y="2278926"/>
            <a:chExt cx="1842135" cy="1110615"/>
          </a:xfrm>
        </p:grpSpPr>
        <p:sp>
          <p:nvSpPr>
            <p:cNvPr id="17" name="object 17"/>
            <p:cNvSpPr/>
            <p:nvPr/>
          </p:nvSpPr>
          <p:spPr>
            <a:xfrm>
              <a:off x="6948716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4" h="1097914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1006208"/>
                  </a:lnTo>
                  <a:lnTo>
                    <a:pt x="798" y="1018208"/>
                  </a:lnTo>
                  <a:lnTo>
                    <a:pt x="18843" y="1061965"/>
                  </a:lnTo>
                  <a:lnTo>
                    <a:pt x="56512" y="1090656"/>
                  </a:lnTo>
                  <a:lnTo>
                    <a:pt x="91439" y="1097648"/>
                  </a:lnTo>
                  <a:lnTo>
                    <a:pt x="1737728" y="1097648"/>
                  </a:lnTo>
                  <a:lnTo>
                    <a:pt x="1783448" y="1085405"/>
                  </a:lnTo>
                  <a:lnTo>
                    <a:pt x="1816925" y="1051928"/>
                  </a:lnTo>
                  <a:lnTo>
                    <a:pt x="1829168" y="1006208"/>
                  </a:lnTo>
                  <a:lnTo>
                    <a:pt x="1829143" y="91439"/>
                  </a:lnTo>
                  <a:lnTo>
                    <a:pt x="1816925" y="46088"/>
                  </a:lnTo>
                  <a:lnTo>
                    <a:pt x="1783448" y="12598"/>
                  </a:lnTo>
                  <a:lnTo>
                    <a:pt x="173772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2181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48716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4" h="109791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737728" y="368"/>
                  </a:lnTo>
                  <a:lnTo>
                    <a:pt x="1783448" y="12598"/>
                  </a:lnTo>
                  <a:lnTo>
                    <a:pt x="1816925" y="46088"/>
                  </a:lnTo>
                  <a:lnTo>
                    <a:pt x="1829168" y="91808"/>
                  </a:lnTo>
                  <a:lnTo>
                    <a:pt x="1829168" y="1006208"/>
                  </a:lnTo>
                  <a:lnTo>
                    <a:pt x="1828368" y="1018208"/>
                  </a:lnTo>
                  <a:lnTo>
                    <a:pt x="1826013" y="1029873"/>
                  </a:lnTo>
                  <a:lnTo>
                    <a:pt x="1802477" y="1070957"/>
                  </a:lnTo>
                  <a:lnTo>
                    <a:pt x="1761393" y="1094493"/>
                  </a:lnTo>
                  <a:lnTo>
                    <a:pt x="1737728" y="1097648"/>
                  </a:lnTo>
                  <a:lnTo>
                    <a:pt x="91439" y="1097648"/>
                  </a:lnTo>
                  <a:lnTo>
                    <a:pt x="45720" y="1085405"/>
                  </a:lnTo>
                  <a:lnTo>
                    <a:pt x="12242" y="1051928"/>
                  </a:lnTo>
                  <a:lnTo>
                    <a:pt x="0" y="10062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268058" y="2460536"/>
            <a:ext cx="1273232" cy="6386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2555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endParaRPr lang="pt-BR" sz="13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 indent="122555">
              <a:lnSpc>
                <a:spcPct val="100000"/>
              </a:lnSpc>
              <a:spcBef>
                <a:spcPts val="100"/>
              </a:spcBef>
            </a:pPr>
            <a:r>
              <a:rPr lang="pt-BR" sz="1300" b="1" spc="-10" dirty="0">
                <a:solidFill>
                  <a:srgbClr val="FFFFFF"/>
                </a:solidFill>
                <a:latin typeface="Calibri"/>
                <a:cs typeface="Calibri"/>
              </a:rPr>
              <a:t>8 Obrigatórias</a:t>
            </a:r>
          </a:p>
          <a:p>
            <a:pPr marL="12700" marR="5080" indent="122555">
              <a:lnSpc>
                <a:spcPct val="100000"/>
              </a:lnSpc>
              <a:spcBef>
                <a:spcPts val="100"/>
              </a:spcBef>
            </a:pPr>
            <a:r>
              <a:rPr lang="pt-BR" sz="1300" b="1" spc="-10" dirty="0">
                <a:solidFill>
                  <a:srgbClr val="FFFFFF"/>
                </a:solidFill>
                <a:latin typeface="Calibri"/>
                <a:cs typeface="Calibri"/>
              </a:rPr>
              <a:t>4 Extras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045485" y="2278926"/>
            <a:ext cx="1842135" cy="1110615"/>
            <a:chOff x="9045485" y="2278926"/>
            <a:chExt cx="1842135" cy="1110615"/>
          </a:xfrm>
        </p:grpSpPr>
        <p:sp>
          <p:nvSpPr>
            <p:cNvPr id="21" name="object 21"/>
            <p:cNvSpPr/>
            <p:nvPr/>
          </p:nvSpPr>
          <p:spPr>
            <a:xfrm>
              <a:off x="9051835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4" h="1097914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39"/>
                  </a:lnTo>
                  <a:lnTo>
                    <a:pt x="0" y="1006208"/>
                  </a:lnTo>
                  <a:lnTo>
                    <a:pt x="798" y="1018208"/>
                  </a:lnTo>
                  <a:lnTo>
                    <a:pt x="18843" y="1061965"/>
                  </a:lnTo>
                  <a:lnTo>
                    <a:pt x="56512" y="1090656"/>
                  </a:lnTo>
                  <a:lnTo>
                    <a:pt x="91439" y="1097648"/>
                  </a:lnTo>
                  <a:lnTo>
                    <a:pt x="1737728" y="1097648"/>
                  </a:lnTo>
                  <a:lnTo>
                    <a:pt x="1783448" y="1085405"/>
                  </a:lnTo>
                  <a:lnTo>
                    <a:pt x="1816925" y="1051928"/>
                  </a:lnTo>
                  <a:lnTo>
                    <a:pt x="1829168" y="1006208"/>
                  </a:lnTo>
                  <a:lnTo>
                    <a:pt x="1829143" y="91439"/>
                  </a:lnTo>
                  <a:lnTo>
                    <a:pt x="1816925" y="46088"/>
                  </a:lnTo>
                  <a:lnTo>
                    <a:pt x="1783448" y="12598"/>
                  </a:lnTo>
                  <a:lnTo>
                    <a:pt x="173772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51835" y="2285276"/>
              <a:ext cx="1829435" cy="1097915"/>
            </a:xfrm>
            <a:custGeom>
              <a:avLst/>
              <a:gdLst/>
              <a:ahLst/>
              <a:cxnLst/>
              <a:rect l="l" t="t" r="r" b="b"/>
              <a:pathLst>
                <a:path w="1829434" h="1097914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737728" y="368"/>
                  </a:lnTo>
                  <a:lnTo>
                    <a:pt x="1783448" y="12598"/>
                  </a:lnTo>
                  <a:lnTo>
                    <a:pt x="1816925" y="46088"/>
                  </a:lnTo>
                  <a:lnTo>
                    <a:pt x="1829168" y="91808"/>
                  </a:lnTo>
                  <a:lnTo>
                    <a:pt x="1829168" y="1006208"/>
                  </a:lnTo>
                  <a:lnTo>
                    <a:pt x="1828368" y="1018208"/>
                  </a:lnTo>
                  <a:lnTo>
                    <a:pt x="1826013" y="1029873"/>
                  </a:lnTo>
                  <a:lnTo>
                    <a:pt x="1802477" y="1070957"/>
                  </a:lnTo>
                  <a:lnTo>
                    <a:pt x="1761393" y="1094493"/>
                  </a:lnTo>
                  <a:lnTo>
                    <a:pt x="1737728" y="1097648"/>
                  </a:lnTo>
                  <a:lnTo>
                    <a:pt x="91439" y="1097648"/>
                  </a:lnTo>
                  <a:lnTo>
                    <a:pt x="45719" y="1085405"/>
                  </a:lnTo>
                  <a:lnTo>
                    <a:pt x="12242" y="1051928"/>
                  </a:lnTo>
                  <a:lnTo>
                    <a:pt x="0" y="10062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645739" y="2623223"/>
            <a:ext cx="6413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 marR="5080" indent="-158115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solidFill>
                  <a:srgbClr val="191919"/>
                </a:solidFill>
                <a:latin typeface="Calibri"/>
                <a:cs typeface="Calibri"/>
              </a:rPr>
              <a:t>Resposta 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final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456100" y="2796476"/>
            <a:ext cx="6597015" cy="76835"/>
            <a:chOff x="2456100" y="2796476"/>
            <a:chExt cx="6597015" cy="76835"/>
          </a:xfrm>
        </p:grpSpPr>
        <p:sp>
          <p:nvSpPr>
            <p:cNvPr id="25" name="object 25"/>
            <p:cNvSpPr/>
            <p:nvPr/>
          </p:nvSpPr>
          <p:spPr>
            <a:xfrm>
              <a:off x="2468880" y="2834640"/>
              <a:ext cx="203200" cy="635"/>
            </a:xfrm>
            <a:custGeom>
              <a:avLst/>
              <a:gdLst/>
              <a:ahLst/>
              <a:cxnLst/>
              <a:rect l="l" t="t" r="r" b="b"/>
              <a:pathLst>
                <a:path w="203200" h="635">
                  <a:moveTo>
                    <a:pt x="0" y="0"/>
                  </a:moveTo>
                  <a:lnTo>
                    <a:pt x="202679" y="355"/>
                  </a:lnTo>
                </a:path>
              </a:pathLst>
            </a:custGeom>
            <a:ln w="2555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66517" y="279647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2000" y="2834640"/>
              <a:ext cx="203200" cy="635"/>
            </a:xfrm>
            <a:custGeom>
              <a:avLst/>
              <a:gdLst/>
              <a:ahLst/>
              <a:cxnLst/>
              <a:rect l="l" t="t" r="r" b="b"/>
              <a:pathLst>
                <a:path w="203200" h="635">
                  <a:moveTo>
                    <a:pt x="0" y="0"/>
                  </a:moveTo>
                  <a:lnTo>
                    <a:pt x="202679" y="355"/>
                  </a:lnTo>
                </a:path>
              </a:pathLst>
            </a:custGeom>
            <a:ln w="2555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69637" y="279647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75119" y="2834640"/>
              <a:ext cx="203200" cy="635"/>
            </a:xfrm>
            <a:custGeom>
              <a:avLst/>
              <a:gdLst/>
              <a:ahLst/>
              <a:cxnLst/>
              <a:rect l="l" t="t" r="r" b="b"/>
              <a:pathLst>
                <a:path w="203200" h="635">
                  <a:moveTo>
                    <a:pt x="0" y="0"/>
                  </a:moveTo>
                  <a:lnTo>
                    <a:pt x="202679" y="355"/>
                  </a:lnTo>
                </a:path>
              </a:pathLst>
            </a:custGeom>
            <a:ln w="2555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72757" y="279647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78239" y="2834640"/>
              <a:ext cx="203200" cy="635"/>
            </a:xfrm>
            <a:custGeom>
              <a:avLst/>
              <a:gdLst/>
              <a:ahLst/>
              <a:cxnLst/>
              <a:rect l="l" t="t" r="r" b="b"/>
              <a:pathLst>
                <a:path w="203200" h="635">
                  <a:moveTo>
                    <a:pt x="0" y="0"/>
                  </a:moveTo>
                  <a:lnTo>
                    <a:pt x="202679" y="355"/>
                  </a:lnTo>
                </a:path>
              </a:pathLst>
            </a:custGeom>
            <a:ln w="2555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975877" y="279647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0" y="0"/>
                  </a:moveTo>
                  <a:lnTo>
                    <a:pt x="0" y="76682"/>
                  </a:lnTo>
                  <a:lnTo>
                    <a:pt x="76682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118023" y="3735971"/>
            <a:ext cx="1556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30" dirty="0">
                <a:solidFill>
                  <a:srgbClr val="C74F13"/>
                </a:solidFill>
                <a:latin typeface="Meiryo UI"/>
                <a:cs typeface="Meiryo UI"/>
              </a:rPr>
              <a:t>↻</a:t>
            </a:r>
            <a:r>
              <a:rPr sz="1200" i="1" spc="-140" dirty="0">
                <a:solidFill>
                  <a:srgbClr val="C74F13"/>
                </a:solidFill>
                <a:latin typeface="Meiryo UI"/>
                <a:cs typeface="Meiryo UI"/>
              </a:rPr>
              <a:t> </a:t>
            </a:r>
            <a:r>
              <a:rPr sz="1200" i="1" dirty="0">
                <a:solidFill>
                  <a:srgbClr val="C74F13"/>
                </a:solidFill>
                <a:latin typeface="Calibri"/>
                <a:cs typeface="Calibri"/>
              </a:rPr>
              <a:t>loop</a:t>
            </a:r>
            <a:r>
              <a:rPr sz="1200" i="1" spc="-50" dirty="0">
                <a:solidFill>
                  <a:srgbClr val="C74F13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74F13"/>
                </a:solidFill>
                <a:latin typeface="Calibri"/>
                <a:cs typeface="Calibri"/>
              </a:rPr>
              <a:t>até</a:t>
            </a:r>
            <a:r>
              <a:rPr sz="1200" i="1" spc="-30" dirty="0">
                <a:solidFill>
                  <a:srgbClr val="C74F13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C74F13"/>
                </a:solidFill>
                <a:latin typeface="Calibri"/>
                <a:cs typeface="Calibri"/>
              </a:rPr>
              <a:t>resposta</a:t>
            </a:r>
            <a:r>
              <a:rPr sz="1200" i="1" spc="-25" dirty="0">
                <a:solidFill>
                  <a:srgbClr val="C74F13"/>
                </a:solidFill>
                <a:latin typeface="Calibri"/>
                <a:cs typeface="Calibri"/>
              </a:rPr>
              <a:t> </a:t>
            </a:r>
            <a:r>
              <a:rPr sz="1200" i="1" spc="-20" dirty="0">
                <a:solidFill>
                  <a:srgbClr val="C74F13"/>
                </a:solidFill>
                <a:latin typeface="Calibri"/>
                <a:cs typeface="Calibri"/>
              </a:rPr>
              <a:t>final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  <p:sp>
        <p:nvSpPr>
          <p:cNvPr id="34" name="object 34"/>
          <p:cNvSpPr txBox="1"/>
          <p:nvPr/>
        </p:nvSpPr>
        <p:spPr>
          <a:xfrm>
            <a:off x="534136" y="4360583"/>
            <a:ext cx="18059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3366"/>
                </a:solidFill>
                <a:latin typeface="Calibri"/>
                <a:cs typeface="Calibri"/>
              </a:rPr>
              <a:t>Componentes</a:t>
            </a:r>
            <a:r>
              <a:rPr sz="1400" b="1" spc="-5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Calibri"/>
                <a:cs typeface="Calibri"/>
              </a:rPr>
              <a:t>principais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4135" y="5076827"/>
            <a:ext cx="5689517" cy="643766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b="1" spc="-20" dirty="0">
                <a:solidFill>
                  <a:srgbClr val="191919"/>
                </a:solidFill>
                <a:latin typeface="Calibri"/>
                <a:cs typeface="Calibri"/>
              </a:rPr>
              <a:t>Tools</a:t>
            </a:r>
            <a:r>
              <a:rPr lang="pt-BR" sz="1200" b="1" spc="-20" dirty="0">
                <a:solidFill>
                  <a:srgbClr val="191919"/>
                </a:solidFill>
                <a:latin typeface="Calibri"/>
                <a:cs typeface="Calibri"/>
              </a:rPr>
              <a:t> Obrigatórias: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listar_colunas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(),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descrever_dados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(),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contar_valores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(), filtrar(),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agrupar_e_agregar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(),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correlacao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(),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detectar_outliers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 e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gerar_grafico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().</a:t>
            </a: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pt-BR" sz="1200" b="1" dirty="0">
                <a:solidFill>
                  <a:srgbClr val="191919"/>
                </a:solidFill>
                <a:latin typeface="Calibri"/>
                <a:cs typeface="Calibri"/>
              </a:rPr>
              <a:t>Tools Extras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: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contar_nulos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(),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calcular_percentil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(),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amostrar_valor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 e </a:t>
            </a:r>
            <a:r>
              <a:rPr lang="pt-BR" sz="1200" dirty="0" err="1">
                <a:solidFill>
                  <a:srgbClr val="191919"/>
                </a:solidFill>
                <a:latin typeface="Calibri"/>
                <a:cs typeface="Calibri"/>
              </a:rPr>
              <a:t>tabela_contingencia</a:t>
            </a:r>
            <a:r>
              <a:rPr lang="pt-BR" sz="1200" dirty="0">
                <a:solidFill>
                  <a:srgbClr val="191919"/>
                </a:solidFill>
                <a:latin typeface="Calibri"/>
                <a:cs typeface="Calibri"/>
              </a:rPr>
              <a:t>().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40" dirty="0"/>
              <a:t> </a:t>
            </a:r>
            <a:r>
              <a:rPr spc="-20" dirty="0"/>
              <a:t>Ferramentas</a:t>
            </a:r>
            <a:r>
              <a:rPr spc="-40" dirty="0"/>
              <a:t> </a:t>
            </a:r>
            <a:r>
              <a:rPr spc="-10" dirty="0"/>
              <a:t>implementadas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830408"/>
              </p:ext>
            </p:extLst>
          </p:nvPr>
        </p:nvGraphicFramePr>
        <p:xfrm>
          <a:off x="454341" y="1094421"/>
          <a:ext cx="11247120" cy="4276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Ferramenta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faz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listar_colunas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Obrigatória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Nomes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tipos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cada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coluna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descrever_dados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Obrigatória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describe()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estendido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contar_valores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Obrigatória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Distribuição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uma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coluna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filtrar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Obrigatória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Subconjunto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estatísticas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agrupar_e_agregar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Obrigatória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groupby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agg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correlacao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Obrigatória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Pearson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Spearman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detectar_outliers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Obrigatória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IQR</a:t>
                      </a: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gerar_grafico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Obrigatória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Hist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boxplot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scatter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barplot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200" spc="-10" dirty="0" err="1">
                          <a:latin typeface="Calibri"/>
                          <a:cs typeface="Calibri"/>
                        </a:rPr>
                        <a:t>contar_nulos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140" dirty="0">
                          <a:solidFill>
                            <a:srgbClr val="C74F13"/>
                          </a:solidFill>
                          <a:latin typeface="Meiryo UI"/>
                          <a:cs typeface="Meiryo UI"/>
                        </a:rPr>
                        <a:t>★</a:t>
                      </a:r>
                      <a:r>
                        <a:rPr sz="1200" b="1" spc="-125" dirty="0">
                          <a:solidFill>
                            <a:srgbClr val="C74F13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C74F13"/>
                          </a:solidFill>
                          <a:latin typeface="Calibri"/>
                          <a:cs typeface="Calibri"/>
                        </a:rPr>
                        <a:t>Extra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200" spc="-10" dirty="0">
                          <a:latin typeface="Calibri"/>
                          <a:cs typeface="Calibri"/>
                        </a:rPr>
                        <a:t>Mostra valores ausentes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200" dirty="0" err="1">
                          <a:latin typeface="Calibri"/>
                          <a:cs typeface="Calibri"/>
                        </a:rPr>
                        <a:t>calcular_percentil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spc="-140" dirty="0">
                          <a:solidFill>
                            <a:srgbClr val="C74F13"/>
                          </a:solidFill>
                          <a:latin typeface="Meiryo UI"/>
                          <a:cs typeface="Meiryo UI"/>
                        </a:rPr>
                        <a:t>★</a:t>
                      </a:r>
                      <a:r>
                        <a:rPr lang="pt-BR" sz="1200" b="1" spc="-125" dirty="0">
                          <a:solidFill>
                            <a:srgbClr val="C74F13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lang="pt-BR" sz="1200" b="1" spc="-10" dirty="0">
                          <a:solidFill>
                            <a:srgbClr val="C74F13"/>
                          </a:solidFill>
                          <a:latin typeface="+mn-lt"/>
                          <a:cs typeface="Calibri"/>
                        </a:rPr>
                        <a:t>Extra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200" dirty="0">
                          <a:latin typeface="Calibri"/>
                          <a:cs typeface="Calibri"/>
                        </a:rPr>
                        <a:t>Fornecer medidas estatísticas adicionais permitindo analisar distribuição de dados.</a:t>
                      </a:r>
                    </a:p>
                  </a:txBody>
                  <a:tcPr marL="0" marR="0" marT="38100" marB="0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669869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200" dirty="0" err="1">
                          <a:latin typeface="Calibri"/>
                          <a:cs typeface="Calibri"/>
                        </a:rPr>
                        <a:t>tabela_contingencia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spc="-140" dirty="0">
                          <a:solidFill>
                            <a:srgbClr val="C74F13"/>
                          </a:solidFill>
                          <a:latin typeface="Meiryo UI"/>
                          <a:cs typeface="Meiryo UI"/>
                        </a:rPr>
                        <a:t>★</a:t>
                      </a:r>
                      <a:r>
                        <a:rPr lang="pt-BR" sz="1200" b="1" spc="-125" dirty="0">
                          <a:solidFill>
                            <a:srgbClr val="C74F13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lang="pt-BR" sz="1200" b="1" spc="-10" dirty="0">
                          <a:solidFill>
                            <a:srgbClr val="C74F13"/>
                          </a:solidFill>
                          <a:latin typeface="+mn-lt"/>
                          <a:cs typeface="Calibri"/>
                        </a:rPr>
                        <a:t>Extra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200" dirty="0">
                          <a:latin typeface="Calibri"/>
                          <a:cs typeface="Calibri"/>
                        </a:rPr>
                        <a:t>Analisa a relação entre variáveis </a:t>
                      </a:r>
                      <a:r>
                        <a:rPr lang="pt-BR" sz="1200" dirty="0"/>
                        <a:t>permitindo observar padrões e distribuições conjuntas.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1199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200" dirty="0" err="1">
                          <a:latin typeface="Calibri"/>
                          <a:cs typeface="Calibri"/>
                        </a:rPr>
                        <a:t>amostrar_valor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>
                      <a:solidFill>
                        <a:srgbClr val="C7C7C7"/>
                      </a:solidFill>
                      <a:prstDash val="soli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  <a:solidFill>
                      <a:srgbClr val="FBEAD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spc="-140" dirty="0">
                          <a:solidFill>
                            <a:srgbClr val="C74F13"/>
                          </a:solidFill>
                          <a:latin typeface="Meiryo UI"/>
                          <a:cs typeface="Meiryo UI"/>
                        </a:rPr>
                        <a:t>★</a:t>
                      </a:r>
                      <a:r>
                        <a:rPr lang="pt-BR" sz="1200" b="1" spc="-125" dirty="0">
                          <a:solidFill>
                            <a:srgbClr val="C74F13"/>
                          </a:solidFill>
                          <a:latin typeface="Meiryo UI"/>
                          <a:cs typeface="Meiryo UI"/>
                        </a:rPr>
                        <a:t> </a:t>
                      </a:r>
                      <a:r>
                        <a:rPr lang="pt-BR" sz="1200" b="1" spc="-10" dirty="0">
                          <a:solidFill>
                            <a:srgbClr val="C74F13"/>
                          </a:solidFill>
                          <a:latin typeface="+mn-lt"/>
                          <a:cs typeface="Calibri"/>
                        </a:rPr>
                        <a:t>Extra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  <a:solidFill>
                      <a:srgbClr val="FBEAD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200" dirty="0">
                          <a:latin typeface="Calibri"/>
                          <a:cs typeface="Calibri"/>
                        </a:rPr>
                        <a:t>Fornece um valor aleatório de qualquer coluna mediante requisição do usuário.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635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C7C7C7"/>
                      </a:solidFill>
                      <a:prstDash val="solid"/>
                    </a:lnR>
                    <a:lnT w="6350">
                      <a:solidFill>
                        <a:srgbClr val="C7C7C7"/>
                      </a:solidFill>
                      <a:prstDash val="solid"/>
                    </a:lnT>
                    <a:lnB w="6350">
                      <a:solidFill>
                        <a:srgbClr val="C7C7C7"/>
                      </a:solidFill>
                      <a:prstDash val="solid"/>
                    </a:lnB>
                    <a:solidFill>
                      <a:srgbClr val="FB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829267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635" cy="6858000"/>
          </a:xfrm>
          <a:custGeom>
            <a:avLst/>
            <a:gdLst/>
            <a:ahLst/>
            <a:cxnLst/>
            <a:rect l="l" t="t" r="r" b="b"/>
            <a:pathLst>
              <a:path w="12192635" h="6858000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2425" y="1205890"/>
            <a:ext cx="1313180" cy="307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0" b="1" spc="-50" dirty="0">
                <a:solidFill>
                  <a:srgbClr val="C74F13"/>
                </a:solidFill>
                <a:latin typeface="Calibri"/>
                <a:cs typeface="Calibri"/>
              </a:rPr>
              <a:t>5</a:t>
            </a:r>
            <a:endParaRPr sz="20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34536" y="2181491"/>
            <a:ext cx="443547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30" dirty="0"/>
              <a:t>DEMONSTRAÇÃO </a:t>
            </a:r>
            <a:r>
              <a:rPr sz="4800" dirty="0"/>
              <a:t>AO</a:t>
            </a:r>
            <a:r>
              <a:rPr sz="4800" spc="-155" dirty="0"/>
              <a:t> </a:t>
            </a:r>
            <a:r>
              <a:rPr sz="4800" spc="-20" dirty="0"/>
              <a:t>VIVO</a:t>
            </a:r>
            <a:endParaRPr sz="4800"/>
          </a:p>
        </p:txBody>
      </p:sp>
      <p:sp>
        <p:nvSpPr>
          <p:cNvPr id="6" name="object 6"/>
          <p:cNvSpPr/>
          <p:nvPr/>
        </p:nvSpPr>
        <p:spPr>
          <a:xfrm>
            <a:off x="3657600" y="3931920"/>
            <a:ext cx="2743200" cy="635"/>
          </a:xfrm>
          <a:custGeom>
            <a:avLst/>
            <a:gdLst/>
            <a:ahLst/>
            <a:cxnLst/>
            <a:rect l="l" t="t" r="r" b="b"/>
            <a:pathLst>
              <a:path w="2743200" h="635">
                <a:moveTo>
                  <a:pt x="0" y="0"/>
                </a:moveTo>
                <a:lnTo>
                  <a:pt x="2743200" y="355"/>
                </a:lnTo>
              </a:path>
            </a:pathLst>
          </a:custGeom>
          <a:ln w="25559">
            <a:solidFill>
              <a:srgbClr val="C74F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70" dirty="0"/>
              <a:t> </a:t>
            </a:r>
            <a:r>
              <a:rPr dirty="0"/>
              <a:t>Conjunto</a:t>
            </a:r>
            <a:r>
              <a:rPr spc="-7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10" dirty="0"/>
              <a:t>avaliação</a:t>
            </a:r>
            <a:r>
              <a:rPr spc="-70" dirty="0"/>
              <a:t> </a:t>
            </a:r>
            <a:r>
              <a:rPr spc="-10" dirty="0"/>
              <a:t>(benchmark)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136" y="1145070"/>
            <a:ext cx="27038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3366"/>
                </a:solidFill>
                <a:latin typeface="Calibri"/>
                <a:cs typeface="Calibri"/>
              </a:rPr>
              <a:t>Composição</a:t>
            </a:r>
            <a:r>
              <a:rPr sz="1600" b="1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do</a:t>
            </a:r>
            <a:r>
              <a:rPr sz="1600" b="1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Calibri"/>
                <a:cs typeface="Calibri"/>
              </a:rPr>
              <a:t>benchmark.json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24165" y="1771916"/>
            <a:ext cx="3094990" cy="3094990"/>
            <a:chOff x="1424165" y="1771916"/>
            <a:chExt cx="3094990" cy="3094990"/>
          </a:xfrm>
        </p:grpSpPr>
        <p:sp>
          <p:nvSpPr>
            <p:cNvPr id="6" name="object 6"/>
            <p:cNvSpPr/>
            <p:nvPr/>
          </p:nvSpPr>
          <p:spPr>
            <a:xfrm>
              <a:off x="2971444" y="1771916"/>
              <a:ext cx="1547495" cy="2320925"/>
            </a:xfrm>
            <a:custGeom>
              <a:avLst/>
              <a:gdLst/>
              <a:ahLst/>
              <a:cxnLst/>
              <a:rect l="l" t="t" r="r" b="b"/>
              <a:pathLst>
                <a:path w="1547495" h="2320925">
                  <a:moveTo>
                    <a:pt x="0" y="0"/>
                  </a:moveTo>
                  <a:lnTo>
                    <a:pt x="0" y="773645"/>
                  </a:lnTo>
                  <a:lnTo>
                    <a:pt x="48530" y="775157"/>
                  </a:lnTo>
                  <a:lnTo>
                    <a:pt x="96817" y="779693"/>
                  </a:lnTo>
                  <a:lnTo>
                    <a:pt x="144706" y="787252"/>
                  </a:lnTo>
                  <a:lnTo>
                    <a:pt x="192042" y="797834"/>
                  </a:lnTo>
                  <a:lnTo>
                    <a:pt x="238671" y="811441"/>
                  </a:lnTo>
                  <a:lnTo>
                    <a:pt x="284532" y="827974"/>
                  </a:lnTo>
                  <a:lnTo>
                    <a:pt x="329148" y="847290"/>
                  </a:lnTo>
                  <a:lnTo>
                    <a:pt x="372398" y="869320"/>
                  </a:lnTo>
                  <a:lnTo>
                    <a:pt x="414161" y="893995"/>
                  </a:lnTo>
                  <a:lnTo>
                    <a:pt x="454317" y="921245"/>
                  </a:lnTo>
                  <a:lnTo>
                    <a:pt x="492838" y="951127"/>
                  </a:lnTo>
                  <a:lnTo>
                    <a:pt x="529305" y="983272"/>
                  </a:lnTo>
                  <a:lnTo>
                    <a:pt x="563647" y="1017613"/>
                  </a:lnTo>
                  <a:lnTo>
                    <a:pt x="595795" y="1054080"/>
                  </a:lnTo>
                  <a:lnTo>
                    <a:pt x="625678" y="1092606"/>
                  </a:lnTo>
                  <a:lnTo>
                    <a:pt x="652926" y="1132761"/>
                  </a:lnTo>
                  <a:lnTo>
                    <a:pt x="677598" y="1174524"/>
                  </a:lnTo>
                  <a:lnTo>
                    <a:pt x="699624" y="1217772"/>
                  </a:lnTo>
                  <a:lnTo>
                    <a:pt x="718938" y="1262384"/>
                  </a:lnTo>
                  <a:lnTo>
                    <a:pt x="735469" y="1308239"/>
                  </a:lnTo>
                  <a:lnTo>
                    <a:pt x="749082" y="1354872"/>
                  </a:lnTo>
                  <a:lnTo>
                    <a:pt x="759668" y="1402231"/>
                  </a:lnTo>
                  <a:lnTo>
                    <a:pt x="767229" y="1450178"/>
                  </a:lnTo>
                  <a:lnTo>
                    <a:pt x="771765" y="1498573"/>
                  </a:lnTo>
                  <a:lnTo>
                    <a:pt x="773277" y="1547279"/>
                  </a:lnTo>
                  <a:lnTo>
                    <a:pt x="771765" y="1595952"/>
                  </a:lnTo>
                  <a:lnTo>
                    <a:pt x="767229" y="1644260"/>
                  </a:lnTo>
                  <a:lnTo>
                    <a:pt x="759668" y="1692099"/>
                  </a:lnTo>
                  <a:lnTo>
                    <a:pt x="749082" y="1739368"/>
                  </a:lnTo>
                  <a:lnTo>
                    <a:pt x="735469" y="1785962"/>
                  </a:lnTo>
                  <a:lnTo>
                    <a:pt x="721992" y="1824220"/>
                  </a:lnTo>
                  <a:lnTo>
                    <a:pt x="706451" y="1861697"/>
                  </a:lnTo>
                  <a:lnTo>
                    <a:pt x="688951" y="1898296"/>
                  </a:lnTo>
                  <a:lnTo>
                    <a:pt x="669594" y="1933917"/>
                  </a:lnTo>
                  <a:lnTo>
                    <a:pt x="1339913" y="2320569"/>
                  </a:lnTo>
                  <a:lnTo>
                    <a:pt x="1366071" y="2273321"/>
                  </a:lnTo>
                  <a:lnTo>
                    <a:pt x="1390539" y="2225215"/>
                  </a:lnTo>
                  <a:lnTo>
                    <a:pt x="1413308" y="2176291"/>
                  </a:lnTo>
                  <a:lnTo>
                    <a:pt x="1434367" y="2126587"/>
                  </a:lnTo>
                  <a:lnTo>
                    <a:pt x="1453708" y="2076144"/>
                  </a:lnTo>
                  <a:lnTo>
                    <a:pt x="1471320" y="2025002"/>
                  </a:lnTo>
                  <a:lnTo>
                    <a:pt x="1485692" y="1978470"/>
                  </a:lnTo>
                  <a:lnTo>
                    <a:pt x="1498571" y="1931564"/>
                  </a:lnTo>
                  <a:lnTo>
                    <a:pt x="1509951" y="1884322"/>
                  </a:lnTo>
                  <a:lnTo>
                    <a:pt x="1519827" y="1836779"/>
                  </a:lnTo>
                  <a:lnTo>
                    <a:pt x="1528197" y="1788974"/>
                  </a:lnTo>
                  <a:lnTo>
                    <a:pt x="1535054" y="1740942"/>
                  </a:lnTo>
                  <a:lnTo>
                    <a:pt x="1540396" y="1692719"/>
                  </a:lnTo>
                  <a:lnTo>
                    <a:pt x="1544217" y="1644344"/>
                  </a:lnTo>
                  <a:lnTo>
                    <a:pt x="1546512" y="1595851"/>
                  </a:lnTo>
                  <a:lnTo>
                    <a:pt x="1547279" y="1547279"/>
                  </a:lnTo>
                  <a:lnTo>
                    <a:pt x="1546512" y="1498610"/>
                  </a:lnTo>
                  <a:lnTo>
                    <a:pt x="1544217" y="1450040"/>
                  </a:lnTo>
                  <a:lnTo>
                    <a:pt x="1540396" y="1401604"/>
                  </a:lnTo>
                  <a:lnTo>
                    <a:pt x="1535054" y="1353337"/>
                  </a:lnTo>
                  <a:lnTo>
                    <a:pt x="1528197" y="1305272"/>
                  </a:lnTo>
                  <a:lnTo>
                    <a:pt x="1519827" y="1257445"/>
                  </a:lnTo>
                  <a:lnTo>
                    <a:pt x="1509951" y="1209889"/>
                  </a:lnTo>
                  <a:lnTo>
                    <a:pt x="1498571" y="1162641"/>
                  </a:lnTo>
                  <a:lnTo>
                    <a:pt x="1485692" y="1115732"/>
                  </a:lnTo>
                  <a:lnTo>
                    <a:pt x="1471320" y="1069200"/>
                  </a:lnTo>
                  <a:lnTo>
                    <a:pt x="1455584" y="1023135"/>
                  </a:lnTo>
                  <a:lnTo>
                    <a:pt x="1438420" y="977622"/>
                  </a:lnTo>
                  <a:lnTo>
                    <a:pt x="1419843" y="932696"/>
                  </a:lnTo>
                  <a:lnTo>
                    <a:pt x="1399872" y="888391"/>
                  </a:lnTo>
                  <a:lnTo>
                    <a:pt x="1378523" y="844743"/>
                  </a:lnTo>
                  <a:lnTo>
                    <a:pt x="1355813" y="801786"/>
                  </a:lnTo>
                  <a:lnTo>
                    <a:pt x="1331760" y="759555"/>
                  </a:lnTo>
                  <a:lnTo>
                    <a:pt x="1306380" y="718085"/>
                  </a:lnTo>
                  <a:lnTo>
                    <a:pt x="1279692" y="677410"/>
                  </a:lnTo>
                  <a:lnTo>
                    <a:pt x="1251711" y="637565"/>
                  </a:lnTo>
                  <a:lnTo>
                    <a:pt x="1222404" y="598633"/>
                  </a:lnTo>
                  <a:lnTo>
                    <a:pt x="1191949" y="560693"/>
                  </a:lnTo>
                  <a:lnTo>
                    <a:pt x="1160367" y="523764"/>
                  </a:lnTo>
                  <a:lnTo>
                    <a:pt x="1127677" y="487866"/>
                  </a:lnTo>
                  <a:lnTo>
                    <a:pt x="1093898" y="453018"/>
                  </a:lnTo>
                  <a:lnTo>
                    <a:pt x="1059050" y="419239"/>
                  </a:lnTo>
                  <a:lnTo>
                    <a:pt x="1023153" y="386548"/>
                  </a:lnTo>
                  <a:lnTo>
                    <a:pt x="986225" y="354965"/>
                  </a:lnTo>
                  <a:lnTo>
                    <a:pt x="948287" y="324509"/>
                  </a:lnTo>
                  <a:lnTo>
                    <a:pt x="909358" y="295198"/>
                  </a:lnTo>
                  <a:lnTo>
                    <a:pt x="869510" y="267221"/>
                  </a:lnTo>
                  <a:lnTo>
                    <a:pt x="828833" y="240534"/>
                  </a:lnTo>
                  <a:lnTo>
                    <a:pt x="787361" y="215156"/>
                  </a:lnTo>
                  <a:lnTo>
                    <a:pt x="745130" y="191103"/>
                  </a:lnTo>
                  <a:lnTo>
                    <a:pt x="702173" y="168394"/>
                  </a:lnTo>
                  <a:lnTo>
                    <a:pt x="658525" y="147044"/>
                  </a:lnTo>
                  <a:lnTo>
                    <a:pt x="614220" y="127073"/>
                  </a:lnTo>
                  <a:lnTo>
                    <a:pt x="569293" y="108498"/>
                  </a:lnTo>
                  <a:lnTo>
                    <a:pt x="523778" y="91335"/>
                  </a:lnTo>
                  <a:lnTo>
                    <a:pt x="477710" y="75603"/>
                  </a:lnTo>
                  <a:lnTo>
                    <a:pt x="431181" y="61240"/>
                  </a:lnTo>
                  <a:lnTo>
                    <a:pt x="384278" y="48389"/>
                  </a:lnTo>
                  <a:lnTo>
                    <a:pt x="337038" y="37049"/>
                  </a:lnTo>
                  <a:lnTo>
                    <a:pt x="289498" y="27220"/>
                  </a:lnTo>
                  <a:lnTo>
                    <a:pt x="241693" y="18903"/>
                  </a:lnTo>
                  <a:lnTo>
                    <a:pt x="193662" y="12098"/>
                  </a:lnTo>
                  <a:lnTo>
                    <a:pt x="145440" y="6805"/>
                  </a:lnTo>
                  <a:lnTo>
                    <a:pt x="97064" y="3024"/>
                  </a:lnTo>
                  <a:lnTo>
                    <a:pt x="48572" y="7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81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24165" y="2545562"/>
              <a:ext cx="2887345" cy="2320925"/>
            </a:xfrm>
            <a:custGeom>
              <a:avLst/>
              <a:gdLst/>
              <a:ahLst/>
              <a:cxnLst/>
              <a:rect l="l" t="t" r="r" b="b"/>
              <a:pathLst>
                <a:path w="2887345" h="2320925">
                  <a:moveTo>
                    <a:pt x="206997" y="0"/>
                  </a:moveTo>
                  <a:lnTo>
                    <a:pt x="180839" y="47242"/>
                  </a:lnTo>
                  <a:lnTo>
                    <a:pt x="156370" y="95345"/>
                  </a:lnTo>
                  <a:lnTo>
                    <a:pt x="133602" y="144267"/>
                  </a:lnTo>
                  <a:lnTo>
                    <a:pt x="112543" y="193969"/>
                  </a:lnTo>
                  <a:lnTo>
                    <a:pt x="93202" y="244411"/>
                  </a:lnTo>
                  <a:lnTo>
                    <a:pt x="75590" y="295554"/>
                  </a:lnTo>
                  <a:lnTo>
                    <a:pt x="61228" y="342087"/>
                  </a:lnTo>
                  <a:lnTo>
                    <a:pt x="48377" y="388995"/>
                  </a:lnTo>
                  <a:lnTo>
                    <a:pt x="37039" y="436244"/>
                  </a:lnTo>
                  <a:lnTo>
                    <a:pt x="27212" y="483799"/>
                  </a:lnTo>
                  <a:lnTo>
                    <a:pt x="18897" y="531626"/>
                  </a:lnTo>
                  <a:lnTo>
                    <a:pt x="12094" y="579691"/>
                  </a:lnTo>
                  <a:lnTo>
                    <a:pt x="6803" y="627958"/>
                  </a:lnTo>
                  <a:lnTo>
                    <a:pt x="3023" y="676394"/>
                  </a:lnTo>
                  <a:lnTo>
                    <a:pt x="755" y="724964"/>
                  </a:lnTo>
                  <a:lnTo>
                    <a:pt x="0" y="773633"/>
                  </a:lnTo>
                  <a:lnTo>
                    <a:pt x="755" y="822205"/>
                  </a:lnTo>
                  <a:lnTo>
                    <a:pt x="3023" y="870698"/>
                  </a:lnTo>
                  <a:lnTo>
                    <a:pt x="6803" y="919073"/>
                  </a:lnTo>
                  <a:lnTo>
                    <a:pt x="12094" y="967296"/>
                  </a:lnTo>
                  <a:lnTo>
                    <a:pt x="18897" y="1015328"/>
                  </a:lnTo>
                  <a:lnTo>
                    <a:pt x="27212" y="1063134"/>
                  </a:lnTo>
                  <a:lnTo>
                    <a:pt x="37039" y="1110676"/>
                  </a:lnTo>
                  <a:lnTo>
                    <a:pt x="48377" y="1157918"/>
                  </a:lnTo>
                  <a:lnTo>
                    <a:pt x="61228" y="1204824"/>
                  </a:lnTo>
                  <a:lnTo>
                    <a:pt x="75590" y="1251356"/>
                  </a:lnTo>
                  <a:lnTo>
                    <a:pt x="91322" y="1297424"/>
                  </a:lnTo>
                  <a:lnTo>
                    <a:pt x="108485" y="1342939"/>
                  </a:lnTo>
                  <a:lnTo>
                    <a:pt x="127061" y="1387866"/>
                  </a:lnTo>
                  <a:lnTo>
                    <a:pt x="147033" y="1432170"/>
                  </a:lnTo>
                  <a:lnTo>
                    <a:pt x="168382" y="1475817"/>
                  </a:lnTo>
                  <a:lnTo>
                    <a:pt x="191093" y="1518773"/>
                  </a:lnTo>
                  <a:lnTo>
                    <a:pt x="215148" y="1561003"/>
                  </a:lnTo>
                  <a:lnTo>
                    <a:pt x="240528" y="1602472"/>
                  </a:lnTo>
                  <a:lnTo>
                    <a:pt x="267218" y="1643146"/>
                  </a:lnTo>
                  <a:lnTo>
                    <a:pt x="295198" y="1682991"/>
                  </a:lnTo>
                  <a:lnTo>
                    <a:pt x="324506" y="1721923"/>
                  </a:lnTo>
                  <a:lnTo>
                    <a:pt x="354960" y="1759864"/>
                  </a:lnTo>
                  <a:lnTo>
                    <a:pt x="386543" y="1796794"/>
                  </a:lnTo>
                  <a:lnTo>
                    <a:pt x="419233" y="1832693"/>
                  </a:lnTo>
                  <a:lnTo>
                    <a:pt x="453012" y="1867542"/>
                  </a:lnTo>
                  <a:lnTo>
                    <a:pt x="487860" y="1901322"/>
                  </a:lnTo>
                  <a:lnTo>
                    <a:pt x="523757" y="1934013"/>
                  </a:lnTo>
                  <a:lnTo>
                    <a:pt x="560685" y="1965595"/>
                  </a:lnTo>
                  <a:lnTo>
                    <a:pt x="598623" y="1996050"/>
                  </a:lnTo>
                  <a:lnTo>
                    <a:pt x="637552" y="2025357"/>
                  </a:lnTo>
                  <a:lnTo>
                    <a:pt x="677400" y="2053338"/>
                  </a:lnTo>
                  <a:lnTo>
                    <a:pt x="718077" y="2080026"/>
                  </a:lnTo>
                  <a:lnTo>
                    <a:pt x="759548" y="2105405"/>
                  </a:lnTo>
                  <a:lnTo>
                    <a:pt x="801780" y="2129458"/>
                  </a:lnTo>
                  <a:lnTo>
                    <a:pt x="844737" y="2152167"/>
                  </a:lnTo>
                  <a:lnTo>
                    <a:pt x="888385" y="2173515"/>
                  </a:lnTo>
                  <a:lnTo>
                    <a:pt x="932690" y="2193485"/>
                  </a:lnTo>
                  <a:lnTo>
                    <a:pt x="977617" y="2212059"/>
                  </a:lnTo>
                  <a:lnTo>
                    <a:pt x="1023132" y="2229221"/>
                  </a:lnTo>
                  <a:lnTo>
                    <a:pt x="1069200" y="2244953"/>
                  </a:lnTo>
                  <a:lnTo>
                    <a:pt x="1115729" y="2259329"/>
                  </a:lnTo>
                  <a:lnTo>
                    <a:pt x="1162634" y="2272209"/>
                  </a:lnTo>
                  <a:lnTo>
                    <a:pt x="1209881" y="2283589"/>
                  </a:lnTo>
                  <a:lnTo>
                    <a:pt x="1257436" y="2293466"/>
                  </a:lnTo>
                  <a:lnTo>
                    <a:pt x="1305263" y="2301835"/>
                  </a:lnTo>
                  <a:lnTo>
                    <a:pt x="1353328" y="2308691"/>
                  </a:lnTo>
                  <a:lnTo>
                    <a:pt x="1401596" y="2314032"/>
                  </a:lnTo>
                  <a:lnTo>
                    <a:pt x="1450034" y="2317851"/>
                  </a:lnTo>
                  <a:lnTo>
                    <a:pt x="1498606" y="2320146"/>
                  </a:lnTo>
                  <a:lnTo>
                    <a:pt x="1547279" y="2320912"/>
                  </a:lnTo>
                  <a:lnTo>
                    <a:pt x="1595851" y="2320146"/>
                  </a:lnTo>
                  <a:lnTo>
                    <a:pt x="1644343" y="2317851"/>
                  </a:lnTo>
                  <a:lnTo>
                    <a:pt x="1692719" y="2314032"/>
                  </a:lnTo>
                  <a:lnTo>
                    <a:pt x="1740941" y="2308691"/>
                  </a:lnTo>
                  <a:lnTo>
                    <a:pt x="1788972" y="2301835"/>
                  </a:lnTo>
                  <a:lnTo>
                    <a:pt x="1836777" y="2293466"/>
                  </a:lnTo>
                  <a:lnTo>
                    <a:pt x="1884317" y="2283589"/>
                  </a:lnTo>
                  <a:lnTo>
                    <a:pt x="1931557" y="2272209"/>
                  </a:lnTo>
                  <a:lnTo>
                    <a:pt x="1978460" y="2259329"/>
                  </a:lnTo>
                  <a:lnTo>
                    <a:pt x="2024989" y="2244953"/>
                  </a:lnTo>
                  <a:lnTo>
                    <a:pt x="2071057" y="2229221"/>
                  </a:lnTo>
                  <a:lnTo>
                    <a:pt x="2116572" y="2212059"/>
                  </a:lnTo>
                  <a:lnTo>
                    <a:pt x="2161499" y="2193485"/>
                  </a:lnTo>
                  <a:lnTo>
                    <a:pt x="2205804" y="2173515"/>
                  </a:lnTo>
                  <a:lnTo>
                    <a:pt x="2249452" y="2152167"/>
                  </a:lnTo>
                  <a:lnTo>
                    <a:pt x="2292409" y="2129458"/>
                  </a:lnTo>
                  <a:lnTo>
                    <a:pt x="2334640" y="2105405"/>
                  </a:lnTo>
                  <a:lnTo>
                    <a:pt x="2376112" y="2080026"/>
                  </a:lnTo>
                  <a:lnTo>
                    <a:pt x="2416789" y="2053338"/>
                  </a:lnTo>
                  <a:lnTo>
                    <a:pt x="2456637" y="2025357"/>
                  </a:lnTo>
                  <a:lnTo>
                    <a:pt x="2495566" y="1996050"/>
                  </a:lnTo>
                  <a:lnTo>
                    <a:pt x="2533504" y="1965595"/>
                  </a:lnTo>
                  <a:lnTo>
                    <a:pt x="2570432" y="1934013"/>
                  </a:lnTo>
                  <a:lnTo>
                    <a:pt x="2606329" y="1901322"/>
                  </a:lnTo>
                  <a:lnTo>
                    <a:pt x="2641177" y="1867542"/>
                  </a:lnTo>
                  <a:lnTo>
                    <a:pt x="2674956" y="1832693"/>
                  </a:lnTo>
                  <a:lnTo>
                    <a:pt x="2707646" y="1796794"/>
                  </a:lnTo>
                  <a:lnTo>
                    <a:pt x="2739229" y="1759864"/>
                  </a:lnTo>
                  <a:lnTo>
                    <a:pt x="2769683" y="1721923"/>
                  </a:lnTo>
                  <a:lnTo>
                    <a:pt x="2798991" y="1682991"/>
                  </a:lnTo>
                  <a:lnTo>
                    <a:pt x="2822343" y="1649784"/>
                  </a:lnTo>
                  <a:lnTo>
                    <a:pt x="2844849" y="1616038"/>
                  </a:lnTo>
                  <a:lnTo>
                    <a:pt x="2866476" y="1581751"/>
                  </a:lnTo>
                  <a:lnTo>
                    <a:pt x="2887192" y="1546923"/>
                  </a:lnTo>
                  <a:lnTo>
                    <a:pt x="2216873" y="1160272"/>
                  </a:lnTo>
                  <a:lnTo>
                    <a:pt x="2206618" y="1177685"/>
                  </a:lnTo>
                  <a:lnTo>
                    <a:pt x="2195858" y="1194793"/>
                  </a:lnTo>
                  <a:lnTo>
                    <a:pt x="2172957" y="1227963"/>
                  </a:lnTo>
                  <a:lnTo>
                    <a:pt x="2143074" y="1266482"/>
                  </a:lnTo>
                  <a:lnTo>
                    <a:pt x="2110926" y="1302946"/>
                  </a:lnTo>
                  <a:lnTo>
                    <a:pt x="2076584" y="1337285"/>
                  </a:lnTo>
                  <a:lnTo>
                    <a:pt x="2040117" y="1369429"/>
                  </a:lnTo>
                  <a:lnTo>
                    <a:pt x="2001596" y="1399311"/>
                  </a:lnTo>
                  <a:lnTo>
                    <a:pt x="1961440" y="1426561"/>
                  </a:lnTo>
                  <a:lnTo>
                    <a:pt x="1919677" y="1451235"/>
                  </a:lnTo>
                  <a:lnTo>
                    <a:pt x="1876427" y="1473266"/>
                  </a:lnTo>
                  <a:lnTo>
                    <a:pt x="1831811" y="1492582"/>
                  </a:lnTo>
                  <a:lnTo>
                    <a:pt x="1785950" y="1509115"/>
                  </a:lnTo>
                  <a:lnTo>
                    <a:pt x="1739321" y="1522723"/>
                  </a:lnTo>
                  <a:lnTo>
                    <a:pt x="1691985" y="1533308"/>
                  </a:lnTo>
                  <a:lnTo>
                    <a:pt x="1644096" y="1540871"/>
                  </a:lnTo>
                  <a:lnTo>
                    <a:pt x="1595809" y="1545410"/>
                  </a:lnTo>
                  <a:lnTo>
                    <a:pt x="1547279" y="1546923"/>
                  </a:lnTo>
                  <a:lnTo>
                    <a:pt x="1498569" y="1545410"/>
                  </a:lnTo>
                  <a:lnTo>
                    <a:pt x="1450172" y="1540871"/>
                  </a:lnTo>
                  <a:lnTo>
                    <a:pt x="1402227" y="1533308"/>
                  </a:lnTo>
                  <a:lnTo>
                    <a:pt x="1354871" y="1522723"/>
                  </a:lnTo>
                  <a:lnTo>
                    <a:pt x="1308239" y="1509115"/>
                  </a:lnTo>
                  <a:lnTo>
                    <a:pt x="1262378" y="1492582"/>
                  </a:lnTo>
                  <a:lnTo>
                    <a:pt x="1217762" y="1473266"/>
                  </a:lnTo>
                  <a:lnTo>
                    <a:pt x="1174512" y="1451235"/>
                  </a:lnTo>
                  <a:lnTo>
                    <a:pt x="1132749" y="1426561"/>
                  </a:lnTo>
                  <a:lnTo>
                    <a:pt x="1092593" y="1399311"/>
                  </a:lnTo>
                  <a:lnTo>
                    <a:pt x="1054072" y="1369429"/>
                  </a:lnTo>
                  <a:lnTo>
                    <a:pt x="1017605" y="1337285"/>
                  </a:lnTo>
                  <a:lnTo>
                    <a:pt x="983263" y="1302946"/>
                  </a:lnTo>
                  <a:lnTo>
                    <a:pt x="951115" y="1266482"/>
                  </a:lnTo>
                  <a:lnTo>
                    <a:pt x="921232" y="1227963"/>
                  </a:lnTo>
                  <a:lnTo>
                    <a:pt x="893984" y="1187807"/>
                  </a:lnTo>
                  <a:lnTo>
                    <a:pt x="869311" y="1146044"/>
                  </a:lnTo>
                  <a:lnTo>
                    <a:pt x="847283" y="1102794"/>
                  </a:lnTo>
                  <a:lnTo>
                    <a:pt x="827966" y="1058178"/>
                  </a:lnTo>
                  <a:lnTo>
                    <a:pt x="811428" y="1012317"/>
                  </a:lnTo>
                  <a:lnTo>
                    <a:pt x="797822" y="965722"/>
                  </a:lnTo>
                  <a:lnTo>
                    <a:pt x="787239" y="918454"/>
                  </a:lnTo>
                  <a:lnTo>
                    <a:pt x="779680" y="870614"/>
                  </a:lnTo>
                  <a:lnTo>
                    <a:pt x="775145" y="822306"/>
                  </a:lnTo>
                  <a:lnTo>
                    <a:pt x="773633" y="773633"/>
                  </a:lnTo>
                  <a:lnTo>
                    <a:pt x="775145" y="724927"/>
                  </a:lnTo>
                  <a:lnTo>
                    <a:pt x="779680" y="676532"/>
                  </a:lnTo>
                  <a:lnTo>
                    <a:pt x="787239" y="628585"/>
                  </a:lnTo>
                  <a:lnTo>
                    <a:pt x="797822" y="581226"/>
                  </a:lnTo>
                  <a:lnTo>
                    <a:pt x="811428" y="534593"/>
                  </a:lnTo>
                  <a:lnTo>
                    <a:pt x="824913" y="496341"/>
                  </a:lnTo>
                  <a:lnTo>
                    <a:pt x="840457" y="458863"/>
                  </a:lnTo>
                  <a:lnTo>
                    <a:pt x="857959" y="422261"/>
                  </a:lnTo>
                  <a:lnTo>
                    <a:pt x="877316" y="386638"/>
                  </a:lnTo>
                  <a:lnTo>
                    <a:pt x="206997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31162" y="1771916"/>
              <a:ext cx="1340485" cy="1160780"/>
            </a:xfrm>
            <a:custGeom>
              <a:avLst/>
              <a:gdLst/>
              <a:ahLst/>
              <a:cxnLst/>
              <a:rect l="l" t="t" r="r" b="b"/>
              <a:pathLst>
                <a:path w="1340485" h="1160780">
                  <a:moveTo>
                    <a:pt x="1340281" y="0"/>
                  </a:moveTo>
                  <a:lnTo>
                    <a:pt x="1291609" y="756"/>
                  </a:lnTo>
                  <a:lnTo>
                    <a:pt x="1243037" y="3024"/>
                  </a:lnTo>
                  <a:lnTo>
                    <a:pt x="1194599" y="6805"/>
                  </a:lnTo>
                  <a:lnTo>
                    <a:pt x="1146330" y="12098"/>
                  </a:lnTo>
                  <a:lnTo>
                    <a:pt x="1098265" y="18903"/>
                  </a:lnTo>
                  <a:lnTo>
                    <a:pt x="1050438" y="27220"/>
                  </a:lnTo>
                  <a:lnTo>
                    <a:pt x="1002884" y="37049"/>
                  </a:lnTo>
                  <a:lnTo>
                    <a:pt x="955637" y="48389"/>
                  </a:lnTo>
                  <a:lnTo>
                    <a:pt x="908732" y="61240"/>
                  </a:lnTo>
                  <a:lnTo>
                    <a:pt x="862203" y="75603"/>
                  </a:lnTo>
                  <a:lnTo>
                    <a:pt x="816134" y="91335"/>
                  </a:lnTo>
                  <a:lnTo>
                    <a:pt x="770619" y="108498"/>
                  </a:lnTo>
                  <a:lnTo>
                    <a:pt x="725692" y="127073"/>
                  </a:lnTo>
                  <a:lnTo>
                    <a:pt x="681388" y="147044"/>
                  </a:lnTo>
                  <a:lnTo>
                    <a:pt x="637740" y="168394"/>
                  </a:lnTo>
                  <a:lnTo>
                    <a:pt x="594783" y="191103"/>
                  </a:lnTo>
                  <a:lnTo>
                    <a:pt x="552551" y="215156"/>
                  </a:lnTo>
                  <a:lnTo>
                    <a:pt x="511080" y="240534"/>
                  </a:lnTo>
                  <a:lnTo>
                    <a:pt x="470403" y="267221"/>
                  </a:lnTo>
                  <a:lnTo>
                    <a:pt x="430555" y="295198"/>
                  </a:lnTo>
                  <a:lnTo>
                    <a:pt x="391626" y="324509"/>
                  </a:lnTo>
                  <a:lnTo>
                    <a:pt x="353687" y="354965"/>
                  </a:lnTo>
                  <a:lnTo>
                    <a:pt x="316760" y="386548"/>
                  </a:lnTo>
                  <a:lnTo>
                    <a:pt x="280862" y="419239"/>
                  </a:lnTo>
                  <a:lnTo>
                    <a:pt x="246014" y="453018"/>
                  </a:lnTo>
                  <a:lnTo>
                    <a:pt x="212235" y="487866"/>
                  </a:lnTo>
                  <a:lnTo>
                    <a:pt x="179545" y="523764"/>
                  </a:lnTo>
                  <a:lnTo>
                    <a:pt x="147963" y="560693"/>
                  </a:lnTo>
                  <a:lnTo>
                    <a:pt x="117508" y="598633"/>
                  </a:lnTo>
                  <a:lnTo>
                    <a:pt x="88201" y="637565"/>
                  </a:lnTo>
                  <a:lnTo>
                    <a:pt x="64849" y="670774"/>
                  </a:lnTo>
                  <a:lnTo>
                    <a:pt x="42343" y="704524"/>
                  </a:lnTo>
                  <a:lnTo>
                    <a:pt x="20716" y="738815"/>
                  </a:lnTo>
                  <a:lnTo>
                    <a:pt x="0" y="773645"/>
                  </a:lnTo>
                  <a:lnTo>
                    <a:pt x="670318" y="1160284"/>
                  </a:lnTo>
                  <a:lnTo>
                    <a:pt x="680573" y="1142873"/>
                  </a:lnTo>
                  <a:lnTo>
                    <a:pt x="691334" y="1125769"/>
                  </a:lnTo>
                  <a:lnTo>
                    <a:pt x="714235" y="1092606"/>
                  </a:lnTo>
                  <a:lnTo>
                    <a:pt x="744118" y="1054080"/>
                  </a:lnTo>
                  <a:lnTo>
                    <a:pt x="776266" y="1017613"/>
                  </a:lnTo>
                  <a:lnTo>
                    <a:pt x="810608" y="983272"/>
                  </a:lnTo>
                  <a:lnTo>
                    <a:pt x="847075" y="951127"/>
                  </a:lnTo>
                  <a:lnTo>
                    <a:pt x="885596" y="921245"/>
                  </a:lnTo>
                  <a:lnTo>
                    <a:pt x="925751" y="893995"/>
                  </a:lnTo>
                  <a:lnTo>
                    <a:pt x="967515" y="869320"/>
                  </a:lnTo>
                  <a:lnTo>
                    <a:pt x="1010764" y="847290"/>
                  </a:lnTo>
                  <a:lnTo>
                    <a:pt x="1055380" y="827974"/>
                  </a:lnTo>
                  <a:lnTo>
                    <a:pt x="1101242" y="811441"/>
                  </a:lnTo>
                  <a:lnTo>
                    <a:pt x="1147873" y="797834"/>
                  </a:lnTo>
                  <a:lnTo>
                    <a:pt x="1195230" y="787252"/>
                  </a:lnTo>
                  <a:lnTo>
                    <a:pt x="1243175" y="779693"/>
                  </a:lnTo>
                  <a:lnTo>
                    <a:pt x="1291571" y="775157"/>
                  </a:lnTo>
                  <a:lnTo>
                    <a:pt x="1340281" y="773645"/>
                  </a:lnTo>
                  <a:lnTo>
                    <a:pt x="1340281" y="0"/>
                  </a:lnTo>
                  <a:close/>
                </a:path>
              </a:pathLst>
            </a:custGeom>
            <a:solidFill>
              <a:srgbClr val="C74F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10939" y="2625839"/>
            <a:ext cx="32258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33%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25624" y="4211129"/>
            <a:ext cx="32258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50%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5624" y="2201087"/>
            <a:ext cx="32258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17%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7557" y="5139004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527" y="0"/>
                </a:moveTo>
                <a:lnTo>
                  <a:pt x="0" y="0"/>
                </a:lnTo>
                <a:lnTo>
                  <a:pt x="0" y="83515"/>
                </a:lnTo>
                <a:lnTo>
                  <a:pt x="41757" y="83515"/>
                </a:lnTo>
                <a:lnTo>
                  <a:pt x="83527" y="83515"/>
                </a:lnTo>
                <a:lnTo>
                  <a:pt x="83527" y="0"/>
                </a:lnTo>
                <a:close/>
              </a:path>
            </a:pathLst>
          </a:custGeom>
          <a:solidFill>
            <a:srgbClr val="4581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40204" y="5139004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20">
                <a:moveTo>
                  <a:pt x="83515" y="0"/>
                </a:moveTo>
                <a:lnTo>
                  <a:pt x="0" y="0"/>
                </a:lnTo>
                <a:lnTo>
                  <a:pt x="0" y="83515"/>
                </a:lnTo>
                <a:lnTo>
                  <a:pt x="41757" y="83515"/>
                </a:lnTo>
                <a:lnTo>
                  <a:pt x="83515" y="83515"/>
                </a:lnTo>
                <a:lnTo>
                  <a:pt x="83515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81081" y="5139004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20" h="83820">
                <a:moveTo>
                  <a:pt x="83515" y="0"/>
                </a:moveTo>
                <a:lnTo>
                  <a:pt x="0" y="0"/>
                </a:lnTo>
                <a:lnTo>
                  <a:pt x="0" y="83515"/>
                </a:lnTo>
                <a:lnTo>
                  <a:pt x="41757" y="83515"/>
                </a:lnTo>
                <a:lnTo>
                  <a:pt x="83515" y="83515"/>
                </a:lnTo>
                <a:lnTo>
                  <a:pt x="83515" y="0"/>
                </a:lnTo>
                <a:close/>
              </a:path>
            </a:pathLst>
          </a:custGeom>
          <a:solidFill>
            <a:srgbClr val="C74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34313" y="5075758"/>
            <a:ext cx="12280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Factuais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simples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(10)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46858" y="5075758"/>
            <a:ext cx="14471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Analíticas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multi-tool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(15)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7978" y="5075758"/>
            <a:ext cx="13423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Ambíguas/inválidas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(5)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20536" y="1708823"/>
            <a:ext cx="23031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3366"/>
                </a:solidFill>
                <a:latin typeface="Calibri"/>
                <a:cs typeface="Calibri"/>
              </a:rPr>
              <a:t>Exemplos</a:t>
            </a:r>
            <a:r>
              <a:rPr sz="1400" b="1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66"/>
                </a:solidFill>
                <a:latin typeface="Calibri"/>
                <a:cs typeface="Calibri"/>
              </a:rPr>
              <a:t>do</a:t>
            </a:r>
            <a:r>
              <a:rPr sz="1400" b="1" spc="-3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66"/>
                </a:solidFill>
                <a:latin typeface="Calibri"/>
                <a:cs typeface="Calibri"/>
              </a:rPr>
              <a:t>nosso</a:t>
            </a:r>
            <a:r>
              <a:rPr sz="1400" b="1" spc="-2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66"/>
                </a:solidFill>
                <a:latin typeface="Calibri"/>
                <a:cs typeface="Calibri"/>
              </a:rPr>
              <a:t>benchmark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20536" y="2135060"/>
            <a:ext cx="32000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581B3"/>
                </a:solidFill>
                <a:latin typeface="Calibri"/>
                <a:cs typeface="Calibri"/>
              </a:rPr>
              <a:t>Factual:</a:t>
            </a:r>
            <a:r>
              <a:rPr sz="1200" b="1" spc="-15" dirty="0">
                <a:solidFill>
                  <a:srgbClr val="4581B3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91919"/>
                </a:solidFill>
                <a:latin typeface="Calibri"/>
                <a:cs typeface="Calibri"/>
              </a:rPr>
              <a:t>"</a:t>
            </a:r>
            <a:r>
              <a:rPr lang="pt-BR" sz="1200" i="1" dirty="0">
                <a:solidFill>
                  <a:srgbClr val="191919"/>
                </a:solidFill>
                <a:latin typeface="Calibri"/>
                <a:cs typeface="Calibri"/>
              </a:rPr>
              <a:t>Quantas colunas existem no </a:t>
            </a:r>
            <a:r>
              <a:rPr lang="pt-BR" sz="1200" i="1" dirty="0" err="1">
                <a:solidFill>
                  <a:srgbClr val="191919"/>
                </a:solidFill>
                <a:latin typeface="Calibri"/>
                <a:cs typeface="Calibri"/>
              </a:rPr>
              <a:t>dataset</a:t>
            </a:r>
            <a:r>
              <a:rPr lang="pt-BR" sz="1200" i="1" dirty="0">
                <a:solidFill>
                  <a:srgbClr val="191919"/>
                </a:solidFill>
                <a:latin typeface="Calibri"/>
                <a:cs typeface="Calibri"/>
              </a:rPr>
              <a:t>?</a:t>
            </a:r>
            <a:r>
              <a:rPr sz="1200" i="1" spc="-10" dirty="0">
                <a:solidFill>
                  <a:srgbClr val="191919"/>
                </a:solidFill>
                <a:latin typeface="Calibri"/>
                <a:cs typeface="Calibri"/>
              </a:rPr>
              <a:t>"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20536" y="2551938"/>
            <a:ext cx="396166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 err="1">
                <a:solidFill>
                  <a:srgbClr val="003366"/>
                </a:solidFill>
                <a:latin typeface="Calibri"/>
                <a:cs typeface="Calibri"/>
              </a:rPr>
              <a:t>Analítica</a:t>
            </a:r>
            <a:r>
              <a:rPr sz="1200" b="1" dirty="0">
                <a:solidFill>
                  <a:srgbClr val="003366"/>
                </a:solidFill>
                <a:latin typeface="Calibri"/>
                <a:cs typeface="Calibri"/>
              </a:rPr>
              <a:t>:</a:t>
            </a:r>
            <a:r>
              <a:rPr lang="pt-BR" sz="1200" b="1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lang="pt-BR" sz="1200" i="1" dirty="0">
                <a:solidFill>
                  <a:srgbClr val="191919"/>
                </a:solidFill>
                <a:latin typeface="Calibri"/>
                <a:cs typeface="Calibri"/>
              </a:rPr>
              <a:t>“Quantas linhas ficam ao filtrar a cidade igual a SP?</a:t>
            </a:r>
            <a:r>
              <a:rPr lang="pt-BR" sz="1200" i="1" spc="-10" dirty="0">
                <a:solidFill>
                  <a:srgbClr val="191919"/>
                </a:solidFill>
                <a:latin typeface="Calibri"/>
                <a:cs typeface="Calibri"/>
              </a:rPr>
              <a:t>"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20536" y="2968815"/>
            <a:ext cx="312346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C74F13"/>
                </a:solidFill>
                <a:latin typeface="Calibri"/>
                <a:cs typeface="Calibri"/>
              </a:rPr>
              <a:t>Ambígua:</a:t>
            </a:r>
            <a:r>
              <a:rPr sz="1200" b="1" spc="-55" dirty="0">
                <a:solidFill>
                  <a:srgbClr val="C74F13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91919"/>
                </a:solidFill>
                <a:latin typeface="Calibri"/>
                <a:cs typeface="Calibri"/>
              </a:rPr>
              <a:t>"</a:t>
            </a:r>
            <a:r>
              <a:rPr lang="pt-BR" sz="1200" i="1" dirty="0">
                <a:solidFill>
                  <a:srgbClr val="191919"/>
                </a:solidFill>
                <a:latin typeface="Calibri"/>
                <a:cs typeface="Calibri"/>
              </a:rPr>
              <a:t>Qual a cidade mais importante?</a:t>
            </a:r>
            <a:r>
              <a:rPr sz="1200" i="1" spc="-10" dirty="0">
                <a:solidFill>
                  <a:srgbClr val="191919"/>
                </a:solidFill>
                <a:latin typeface="Calibri"/>
                <a:cs typeface="Calibri"/>
              </a:rPr>
              <a:t>"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8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ED544-6E64-5F01-6949-7B4F59D50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44" y="200418"/>
            <a:ext cx="5201920" cy="40011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7FCE12-CC88-7953-80C8-47452A338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889203"/>
            <a:ext cx="12039600" cy="580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1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45" dirty="0"/>
              <a:t> </a:t>
            </a:r>
            <a:r>
              <a:rPr spc="-10" dirty="0"/>
              <a:t>Resultados</a:t>
            </a:r>
            <a:r>
              <a:rPr spc="-50" dirty="0"/>
              <a:t> </a:t>
            </a:r>
            <a:r>
              <a:rPr spc="-10" dirty="0"/>
              <a:t>quantitativos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0747" y="2936447"/>
            <a:ext cx="2500072" cy="1744231"/>
          </a:xfrm>
          <a:custGeom>
            <a:avLst/>
            <a:gdLst/>
            <a:ahLst/>
            <a:cxnLst/>
            <a:rect l="l" t="t" r="r" b="b"/>
            <a:pathLst>
              <a:path w="2468880" h="2011680">
                <a:moveTo>
                  <a:pt x="2468511" y="0"/>
                </a:moveTo>
                <a:lnTo>
                  <a:pt x="0" y="0"/>
                </a:lnTo>
                <a:lnTo>
                  <a:pt x="0" y="2011311"/>
                </a:lnTo>
                <a:lnTo>
                  <a:pt x="1234439" y="2011311"/>
                </a:lnTo>
                <a:lnTo>
                  <a:pt x="2468511" y="2011311"/>
                </a:lnTo>
                <a:lnTo>
                  <a:pt x="246851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6843" y="2952953"/>
            <a:ext cx="2448000" cy="1728000"/>
          </a:xfrm>
          <a:prstGeom prst="rect">
            <a:avLst/>
          </a:prstGeom>
          <a:ln w="25559">
            <a:solidFill>
              <a:srgbClr val="003366"/>
            </a:solidFill>
          </a:ln>
        </p:spPr>
        <p:txBody>
          <a:bodyPr vert="horz" wrap="square" lIns="0" tIns="304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0"/>
              </a:spcBef>
            </a:pPr>
            <a:r>
              <a:rPr sz="4400" b="1" spc="-10" dirty="0">
                <a:solidFill>
                  <a:srgbClr val="003366"/>
                </a:solidFill>
                <a:latin typeface="Calibri"/>
                <a:cs typeface="Calibri"/>
              </a:rPr>
              <a:t>[</a:t>
            </a:r>
            <a:r>
              <a:rPr lang="pt-BR" sz="4400" b="1" spc="-10" dirty="0">
                <a:solidFill>
                  <a:srgbClr val="003366"/>
                </a:solidFill>
                <a:latin typeface="Calibri"/>
                <a:cs typeface="Calibri"/>
              </a:rPr>
              <a:t>100</a:t>
            </a:r>
            <a:r>
              <a:rPr sz="4400" b="1" spc="-10" dirty="0">
                <a:solidFill>
                  <a:srgbClr val="003366"/>
                </a:solidFill>
                <a:latin typeface="Calibri"/>
                <a:cs typeface="Calibri"/>
              </a:rPr>
              <a:t>%]</a:t>
            </a:r>
            <a:endParaRPr lang="pt-BR" sz="4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750"/>
              </a:spcBef>
            </a:pPr>
            <a:r>
              <a:rPr lang="pt-BR" sz="1200" spc="-10" dirty="0">
                <a:solidFill>
                  <a:srgbClr val="4F4F4F"/>
                </a:solidFill>
                <a:latin typeface="Calibri"/>
                <a:cs typeface="Calibri"/>
              </a:rPr>
              <a:t>Acurácia</a:t>
            </a:r>
            <a:r>
              <a:rPr lang="pt-BR" sz="120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lang="pt-BR" sz="1200" spc="-10" dirty="0">
                <a:solidFill>
                  <a:srgbClr val="4F4F4F"/>
                </a:solidFill>
                <a:latin typeface="Calibri"/>
                <a:cs typeface="Calibri"/>
              </a:rPr>
              <a:t>geral</a:t>
            </a:r>
            <a:endParaRPr lang="pt-BR" sz="12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07206" y="2962453"/>
            <a:ext cx="2444597" cy="1713290"/>
          </a:xfrm>
          <a:custGeom>
            <a:avLst/>
            <a:gdLst/>
            <a:ahLst/>
            <a:cxnLst/>
            <a:rect l="l" t="t" r="r" b="b"/>
            <a:pathLst>
              <a:path w="2468879" h="2011680">
                <a:moveTo>
                  <a:pt x="2468511" y="0"/>
                </a:moveTo>
                <a:lnTo>
                  <a:pt x="0" y="0"/>
                </a:lnTo>
                <a:lnTo>
                  <a:pt x="0" y="2011311"/>
                </a:lnTo>
                <a:lnTo>
                  <a:pt x="1234439" y="2011311"/>
                </a:lnTo>
                <a:lnTo>
                  <a:pt x="2468511" y="2011311"/>
                </a:lnTo>
                <a:lnTo>
                  <a:pt x="246851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70731" y="2932595"/>
            <a:ext cx="2468880" cy="1713290"/>
          </a:xfrm>
          <a:prstGeom prst="rect">
            <a:avLst/>
          </a:prstGeom>
          <a:ln w="25559">
            <a:solidFill>
              <a:srgbClr val="21814F"/>
            </a:solidFill>
          </a:ln>
        </p:spPr>
        <p:txBody>
          <a:bodyPr vert="horz" wrap="square" lIns="0" tIns="304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0"/>
              </a:spcBef>
            </a:pPr>
            <a:r>
              <a:rPr sz="4400" b="1" spc="-10" dirty="0">
                <a:solidFill>
                  <a:srgbClr val="21814F"/>
                </a:solidFill>
                <a:latin typeface="Calibri"/>
                <a:cs typeface="Calibri"/>
              </a:rPr>
              <a:t>[</a:t>
            </a:r>
            <a:r>
              <a:rPr lang="pt-BR" sz="4400" b="1" spc="-10" dirty="0">
                <a:solidFill>
                  <a:srgbClr val="21814F"/>
                </a:solidFill>
                <a:latin typeface="Calibri"/>
                <a:cs typeface="Calibri"/>
              </a:rPr>
              <a:t>100</a:t>
            </a:r>
            <a:r>
              <a:rPr sz="4400" b="1" spc="-10" dirty="0">
                <a:solidFill>
                  <a:srgbClr val="21814F"/>
                </a:solidFill>
                <a:latin typeface="Calibri"/>
                <a:cs typeface="Calibri"/>
              </a:rPr>
              <a:t>%]</a:t>
            </a:r>
            <a:endParaRPr sz="4400" dirty="0">
              <a:latin typeface="Calibri"/>
              <a:cs typeface="Calibri"/>
            </a:endParaRPr>
          </a:p>
          <a:p>
            <a:pPr marL="700405" marR="695325" algn="ctr">
              <a:lnSpc>
                <a:spcPct val="100000"/>
              </a:lnSpc>
              <a:spcBef>
                <a:spcPts val="2750"/>
              </a:spcBef>
            </a:pPr>
            <a:r>
              <a:rPr sz="1200" spc="-45" dirty="0">
                <a:solidFill>
                  <a:srgbClr val="4F4F4F"/>
                </a:solidFill>
                <a:latin typeface="Calibri"/>
                <a:cs typeface="Calibri"/>
              </a:rPr>
              <a:t>Taxa</a:t>
            </a:r>
            <a:r>
              <a:rPr sz="1200" spc="-1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F4F4F"/>
                </a:solidFill>
                <a:latin typeface="Calibri"/>
                <a:cs typeface="Calibri"/>
              </a:rPr>
              <a:t>de</a:t>
            </a:r>
            <a:r>
              <a:rPr sz="1200" spc="-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4F4F4F"/>
                </a:solidFill>
                <a:latin typeface="Calibri"/>
                <a:cs typeface="Calibri"/>
              </a:rPr>
              <a:t>execução </a:t>
            </a:r>
            <a:r>
              <a:rPr sz="1200" spc="-10" dirty="0">
                <a:solidFill>
                  <a:srgbClr val="4F4F4F"/>
                </a:solidFill>
                <a:latin typeface="Calibri"/>
                <a:cs typeface="Calibri"/>
              </a:rPr>
              <a:t>bem-sucedida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05499" y="2941383"/>
            <a:ext cx="2468879" cy="1734360"/>
          </a:xfrm>
          <a:custGeom>
            <a:avLst/>
            <a:gdLst/>
            <a:ahLst/>
            <a:cxnLst/>
            <a:rect l="l" t="t" r="r" b="b"/>
            <a:pathLst>
              <a:path w="2468879" h="2011680">
                <a:moveTo>
                  <a:pt x="2468511" y="0"/>
                </a:moveTo>
                <a:lnTo>
                  <a:pt x="0" y="0"/>
                </a:lnTo>
                <a:lnTo>
                  <a:pt x="0" y="2011311"/>
                </a:lnTo>
                <a:lnTo>
                  <a:pt x="1234439" y="2011311"/>
                </a:lnTo>
                <a:lnTo>
                  <a:pt x="2468511" y="2011311"/>
                </a:lnTo>
                <a:lnTo>
                  <a:pt x="246851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17691" y="2952953"/>
            <a:ext cx="2468880" cy="1713290"/>
          </a:xfrm>
          <a:prstGeom prst="rect">
            <a:avLst/>
          </a:prstGeom>
          <a:ln w="25559">
            <a:solidFill>
              <a:srgbClr val="4581B3"/>
            </a:solidFill>
          </a:ln>
        </p:spPr>
        <p:txBody>
          <a:bodyPr vert="horz" wrap="square" lIns="0" tIns="304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0"/>
              </a:spcBef>
            </a:pPr>
            <a:r>
              <a:rPr sz="4400" b="1" spc="-10" dirty="0">
                <a:solidFill>
                  <a:srgbClr val="4581B3"/>
                </a:solidFill>
                <a:latin typeface="Calibri"/>
                <a:cs typeface="Calibri"/>
              </a:rPr>
              <a:t>[</a:t>
            </a:r>
            <a:r>
              <a:rPr lang="pt-BR" sz="4400" b="1" spc="-10" dirty="0">
                <a:solidFill>
                  <a:srgbClr val="4581B3"/>
                </a:solidFill>
                <a:latin typeface="Calibri"/>
                <a:cs typeface="Calibri"/>
              </a:rPr>
              <a:t>1.77</a:t>
            </a:r>
            <a:r>
              <a:rPr sz="4400" b="1" spc="-10" dirty="0">
                <a:solidFill>
                  <a:srgbClr val="4581B3"/>
                </a:solidFill>
                <a:latin typeface="Calibri"/>
                <a:cs typeface="Calibri"/>
              </a:rPr>
              <a:t>]</a:t>
            </a:r>
            <a:endParaRPr sz="4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750"/>
              </a:spcBef>
            </a:pPr>
            <a:r>
              <a:rPr sz="1200" spc="-30" dirty="0">
                <a:solidFill>
                  <a:srgbClr val="4F4F4F"/>
                </a:solidFill>
                <a:latin typeface="Calibri"/>
                <a:cs typeface="Calibri"/>
              </a:rPr>
              <a:t>Tool </a:t>
            </a:r>
            <a:r>
              <a:rPr sz="1200" spc="-10" dirty="0">
                <a:solidFill>
                  <a:srgbClr val="4F4F4F"/>
                </a:solidFill>
                <a:latin typeface="Calibri"/>
                <a:cs typeface="Calibri"/>
              </a:rPr>
              <a:t>calls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4F4F4F"/>
                </a:solidFill>
                <a:latin typeface="Calibri"/>
                <a:cs typeface="Calibri"/>
              </a:rPr>
              <a:t>por</a:t>
            </a:r>
            <a:r>
              <a:rPr sz="1200" spc="-10" dirty="0">
                <a:solidFill>
                  <a:srgbClr val="4F4F4F"/>
                </a:solidFill>
                <a:latin typeface="Calibri"/>
                <a:cs typeface="Calibri"/>
              </a:rPr>
              <a:t> pergunta (média)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78470" y="2973750"/>
            <a:ext cx="2468879" cy="1734360"/>
          </a:xfrm>
          <a:custGeom>
            <a:avLst/>
            <a:gdLst/>
            <a:ahLst/>
            <a:cxnLst/>
            <a:rect l="l" t="t" r="r" b="b"/>
            <a:pathLst>
              <a:path w="2468879" h="2011680">
                <a:moveTo>
                  <a:pt x="2468511" y="0"/>
                </a:moveTo>
                <a:lnTo>
                  <a:pt x="0" y="0"/>
                </a:lnTo>
                <a:lnTo>
                  <a:pt x="0" y="2011311"/>
                </a:lnTo>
                <a:lnTo>
                  <a:pt x="1234439" y="2011311"/>
                </a:lnTo>
                <a:lnTo>
                  <a:pt x="2468511" y="2011311"/>
                </a:lnTo>
                <a:lnTo>
                  <a:pt x="246851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266277" y="2962453"/>
            <a:ext cx="2468880" cy="1713290"/>
          </a:xfrm>
          <a:prstGeom prst="rect">
            <a:avLst/>
          </a:prstGeom>
          <a:ln w="25559">
            <a:solidFill>
              <a:srgbClr val="C74F13"/>
            </a:solidFill>
          </a:ln>
        </p:spPr>
        <p:txBody>
          <a:bodyPr vert="horz" wrap="square" lIns="0" tIns="3048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0"/>
              </a:spcBef>
            </a:pPr>
            <a:r>
              <a:rPr sz="4400" b="1" spc="-10" dirty="0">
                <a:solidFill>
                  <a:srgbClr val="C74F13"/>
                </a:solidFill>
                <a:latin typeface="Calibri"/>
                <a:cs typeface="Calibri"/>
              </a:rPr>
              <a:t>[</a:t>
            </a:r>
            <a:r>
              <a:rPr lang="pt-BR" sz="4400" b="1" spc="-10" dirty="0">
                <a:solidFill>
                  <a:srgbClr val="C74F13"/>
                </a:solidFill>
                <a:latin typeface="Calibri"/>
                <a:cs typeface="Calibri"/>
              </a:rPr>
              <a:t>4.71</a:t>
            </a:r>
            <a:r>
              <a:rPr sz="4400" b="1" spc="-10" dirty="0">
                <a:solidFill>
                  <a:srgbClr val="C74F13"/>
                </a:solidFill>
                <a:latin typeface="Calibri"/>
                <a:cs typeface="Calibri"/>
              </a:rPr>
              <a:t>s]</a:t>
            </a:r>
            <a:endParaRPr sz="4400" dirty="0">
              <a:latin typeface="Calibri"/>
              <a:cs typeface="Calibri"/>
            </a:endParaRPr>
          </a:p>
          <a:p>
            <a:pPr marL="767715" marR="761365" algn="ctr">
              <a:lnSpc>
                <a:spcPct val="100000"/>
              </a:lnSpc>
              <a:spcBef>
                <a:spcPts val="2750"/>
              </a:spcBef>
            </a:pPr>
            <a:r>
              <a:rPr sz="1200" spc="-10" dirty="0">
                <a:solidFill>
                  <a:srgbClr val="4F4F4F"/>
                </a:solidFill>
                <a:latin typeface="Calibri"/>
                <a:cs typeface="Calibri"/>
              </a:rPr>
              <a:t>Latência</a:t>
            </a:r>
            <a:r>
              <a:rPr sz="1200" spc="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F4F4F"/>
                </a:solidFill>
                <a:latin typeface="Calibri"/>
                <a:cs typeface="Calibri"/>
              </a:rPr>
              <a:t>média </a:t>
            </a:r>
            <a:r>
              <a:rPr sz="1200" dirty="0">
                <a:solidFill>
                  <a:srgbClr val="4F4F4F"/>
                </a:solidFill>
                <a:latin typeface="Calibri"/>
                <a:cs typeface="Calibri"/>
              </a:rPr>
              <a:t>por</a:t>
            </a:r>
            <a:r>
              <a:rPr sz="1200" spc="-2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F4F4F"/>
                </a:solidFill>
                <a:latin typeface="Calibri"/>
                <a:cs typeface="Calibri"/>
              </a:rPr>
              <a:t>pergunta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10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spc="-45" dirty="0"/>
              <a:t> </a:t>
            </a:r>
            <a:r>
              <a:rPr dirty="0"/>
              <a:t>Análise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 err="1"/>
              <a:t>trajetórias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63136E4A-CF44-9CAC-1ED4-8D73CB92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990600"/>
            <a:ext cx="4267200" cy="52574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7168E-C8CA-3D95-9D35-98308D07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44" y="200418"/>
            <a:ext cx="6413856" cy="400110"/>
          </a:xfrm>
        </p:spPr>
        <p:txBody>
          <a:bodyPr/>
          <a:lstStyle/>
          <a:p>
            <a:r>
              <a:rPr lang="pt-BR" dirty="0"/>
              <a:t>8.</a:t>
            </a:r>
            <a:r>
              <a:rPr lang="pt-BR" spc="-45" dirty="0"/>
              <a:t> </a:t>
            </a:r>
            <a:r>
              <a:rPr lang="pt-BR" dirty="0"/>
              <a:t>Análise</a:t>
            </a:r>
            <a:r>
              <a:rPr lang="pt-BR" spc="-50" dirty="0"/>
              <a:t> </a:t>
            </a:r>
            <a:r>
              <a:rPr lang="pt-BR" dirty="0"/>
              <a:t>de</a:t>
            </a:r>
            <a:r>
              <a:rPr lang="pt-BR" spc="-45" dirty="0"/>
              <a:t> </a:t>
            </a:r>
            <a:r>
              <a:rPr lang="pt-BR" spc="-10" dirty="0"/>
              <a:t>trajetórias – Tool </a:t>
            </a:r>
            <a:r>
              <a:rPr lang="pt-BR" spc="-10" dirty="0" err="1"/>
              <a:t>listar_colunas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6AC6BED-541A-B384-2793-821663C9C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6" y="1371600"/>
            <a:ext cx="11736748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28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94EAD-FB38-A5A2-9A55-A7C8E78A3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44" y="200418"/>
            <a:ext cx="7556856" cy="800219"/>
          </a:xfrm>
        </p:spPr>
        <p:txBody>
          <a:bodyPr/>
          <a:lstStyle/>
          <a:p>
            <a:r>
              <a:rPr lang="pt-BR" dirty="0"/>
              <a:t>8.</a:t>
            </a:r>
            <a:r>
              <a:rPr lang="pt-BR" spc="-45" dirty="0"/>
              <a:t> </a:t>
            </a:r>
            <a:r>
              <a:rPr lang="pt-BR" dirty="0"/>
              <a:t>Análise</a:t>
            </a:r>
            <a:r>
              <a:rPr lang="pt-BR" spc="-50" dirty="0"/>
              <a:t> </a:t>
            </a:r>
            <a:r>
              <a:rPr lang="pt-BR" dirty="0"/>
              <a:t>de</a:t>
            </a:r>
            <a:r>
              <a:rPr lang="pt-BR" spc="-45" dirty="0"/>
              <a:t> </a:t>
            </a:r>
            <a:r>
              <a:rPr lang="pt-BR" spc="-10" dirty="0"/>
              <a:t>trajetórias – Tool </a:t>
            </a:r>
            <a:r>
              <a:rPr lang="pt-BR" spc="-10" dirty="0" err="1"/>
              <a:t>agrupar_e_agregar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FC23FD4-4BAD-9A34-E77B-4CEF4A368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1524000"/>
            <a:ext cx="11526859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08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B079C-5609-219C-1297-BED3CA94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B756241-94A3-0A7C-8CF9-51C94E308D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spc="-45" dirty="0"/>
              <a:t> </a:t>
            </a:r>
            <a:r>
              <a:rPr dirty="0"/>
              <a:t>Análise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lang="pt-BR" spc="-10" dirty="0"/>
              <a:t>erros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360755-C00F-9355-ECCF-6D455625D43E}"/>
              </a:ext>
            </a:extLst>
          </p:cNvPr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BA4EDB6-9A4D-4DF6-D835-BFBEEB81A5A9}"/>
              </a:ext>
            </a:extLst>
          </p:cNvPr>
          <p:cNvSpPr/>
          <p:nvPr/>
        </p:nvSpPr>
        <p:spPr>
          <a:xfrm>
            <a:off x="411817" y="1905000"/>
            <a:ext cx="10938163" cy="3458645"/>
          </a:xfrm>
          <a:custGeom>
            <a:avLst/>
            <a:gdLst/>
            <a:ahLst/>
            <a:cxnLst/>
            <a:rect l="l" t="t" r="r" b="b"/>
            <a:pathLst>
              <a:path w="5486400" h="4754880">
                <a:moveTo>
                  <a:pt x="5486031" y="0"/>
                </a:moveTo>
                <a:lnTo>
                  <a:pt x="0" y="0"/>
                </a:lnTo>
                <a:lnTo>
                  <a:pt x="0" y="4754511"/>
                </a:lnTo>
                <a:lnTo>
                  <a:pt x="2743200" y="4754511"/>
                </a:lnTo>
                <a:lnTo>
                  <a:pt x="5486031" y="4754511"/>
                </a:lnTo>
                <a:lnTo>
                  <a:pt x="548603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0AEA260-D95B-4B76-126C-C27A3FBF6C7C}"/>
              </a:ext>
            </a:extLst>
          </p:cNvPr>
          <p:cNvSpPr txBox="1"/>
          <p:nvPr/>
        </p:nvSpPr>
        <p:spPr>
          <a:xfrm>
            <a:off x="411817" y="1905000"/>
            <a:ext cx="10938164" cy="3459280"/>
          </a:xfrm>
          <a:prstGeom prst="rect">
            <a:avLst/>
          </a:prstGeom>
          <a:ln w="19079">
            <a:solidFill>
              <a:srgbClr val="C74F13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1315"/>
              </a:spcBef>
            </a:pPr>
            <a:r>
              <a:rPr sz="1400" b="1" dirty="0">
                <a:solidFill>
                  <a:srgbClr val="C74F13"/>
                </a:solidFill>
                <a:latin typeface="Meiryo UI"/>
                <a:cs typeface="Meiryo UI"/>
              </a:rPr>
              <a:t>✗</a:t>
            </a:r>
            <a:r>
              <a:rPr sz="1400" b="1" spc="-150" dirty="0">
                <a:solidFill>
                  <a:srgbClr val="C74F13"/>
                </a:solidFill>
                <a:latin typeface="Meiryo UI"/>
                <a:cs typeface="Meiryo UI"/>
              </a:rPr>
              <a:t> </a:t>
            </a:r>
            <a:r>
              <a:rPr sz="1400" b="1" dirty="0">
                <a:solidFill>
                  <a:srgbClr val="C74F13"/>
                </a:solidFill>
                <a:latin typeface="Calibri"/>
                <a:cs typeface="Calibri"/>
              </a:rPr>
              <a:t>Análise</a:t>
            </a:r>
            <a:r>
              <a:rPr sz="1400" b="1" spc="-15" dirty="0">
                <a:solidFill>
                  <a:srgbClr val="C74F1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C74F13"/>
                </a:solidFill>
                <a:latin typeface="Calibri"/>
                <a:cs typeface="Calibri"/>
              </a:rPr>
              <a:t>de </a:t>
            </a:r>
            <a:r>
              <a:rPr sz="1400" b="1" spc="-20" dirty="0">
                <a:solidFill>
                  <a:srgbClr val="C74F13"/>
                </a:solidFill>
                <a:latin typeface="Calibri"/>
                <a:cs typeface="Calibri"/>
              </a:rPr>
              <a:t>erro</a:t>
            </a:r>
            <a:endParaRPr sz="1400" dirty="0">
              <a:latin typeface="Calibri"/>
              <a:cs typeface="Calibri"/>
            </a:endParaRPr>
          </a:p>
          <a:p>
            <a:pPr marL="272415" algn="just">
              <a:lnSpc>
                <a:spcPct val="100000"/>
              </a:lnSpc>
              <a:spcBef>
                <a:spcPts val="1680"/>
              </a:spcBef>
            </a:pP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Pergunta: </a:t>
            </a:r>
            <a:r>
              <a:rPr sz="1300" i="1" dirty="0">
                <a:solidFill>
                  <a:srgbClr val="191919"/>
                </a:solidFill>
                <a:latin typeface="Calibri"/>
                <a:cs typeface="Calibri"/>
              </a:rPr>
              <a:t>"</a:t>
            </a:r>
            <a:r>
              <a:rPr lang="pt-BR" sz="1300" i="1" dirty="0">
                <a:solidFill>
                  <a:srgbClr val="191919"/>
                </a:solidFill>
                <a:latin typeface="Calibri"/>
                <a:cs typeface="Calibri"/>
              </a:rPr>
              <a:t>Existem valores nulos?</a:t>
            </a:r>
            <a:r>
              <a:rPr sz="1300" i="1" spc="-10" dirty="0">
                <a:solidFill>
                  <a:srgbClr val="191919"/>
                </a:solidFill>
                <a:latin typeface="Calibri"/>
                <a:cs typeface="Calibri"/>
              </a:rPr>
              <a:t>"</a:t>
            </a:r>
            <a:endParaRPr sz="13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380"/>
              </a:spcBef>
            </a:pPr>
            <a:endParaRPr sz="1300" dirty="0">
              <a:latin typeface="Calibri"/>
              <a:cs typeface="Calibri"/>
            </a:endParaRPr>
          </a:p>
          <a:p>
            <a:pPr marL="272415" algn="just">
              <a:lnSpc>
                <a:spcPct val="100000"/>
              </a:lnSpc>
            </a:pPr>
            <a:r>
              <a:rPr sz="1300" b="1" dirty="0">
                <a:solidFill>
                  <a:srgbClr val="191919"/>
                </a:solidFill>
                <a:latin typeface="Calibri"/>
                <a:cs typeface="Calibri"/>
              </a:rPr>
              <a:t>O</a:t>
            </a:r>
            <a:r>
              <a:rPr sz="1300" b="1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91919"/>
                </a:solidFill>
                <a:latin typeface="Calibri"/>
                <a:cs typeface="Calibri"/>
              </a:rPr>
              <a:t>que</a:t>
            </a:r>
            <a:r>
              <a:rPr sz="1300" b="1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91919"/>
                </a:solidFill>
                <a:latin typeface="Calibri"/>
                <a:cs typeface="Calibri"/>
              </a:rPr>
              <a:t>o</a:t>
            </a:r>
            <a:r>
              <a:rPr sz="1300" b="1" spc="-1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91919"/>
                </a:solidFill>
                <a:latin typeface="Calibri"/>
                <a:cs typeface="Calibri"/>
              </a:rPr>
              <a:t>agente</a:t>
            </a:r>
            <a:r>
              <a:rPr sz="1300" b="1" spc="-20" dirty="0">
                <a:solidFill>
                  <a:srgbClr val="191919"/>
                </a:solidFill>
                <a:latin typeface="Calibri"/>
                <a:cs typeface="Calibri"/>
              </a:rPr>
              <a:t> fez:</a:t>
            </a:r>
            <a:endParaRPr sz="1300" dirty="0">
              <a:latin typeface="Calibri"/>
              <a:cs typeface="Calibri"/>
            </a:endParaRPr>
          </a:p>
          <a:p>
            <a:pPr marL="272415" algn="just">
              <a:lnSpc>
                <a:spcPct val="100000"/>
              </a:lnSpc>
              <a:spcBef>
                <a:spcPts val="200"/>
              </a:spcBef>
            </a:pPr>
            <a:r>
              <a:rPr lang="pt-BR" sz="1300" spc="-10" dirty="0">
                <a:solidFill>
                  <a:srgbClr val="191919"/>
                </a:solidFill>
                <a:latin typeface="Calibri"/>
                <a:cs typeface="Calibri"/>
              </a:rPr>
              <a:t>O Agente buscava por uma resposta que continha o número 0</a:t>
            </a:r>
          </a:p>
          <a:p>
            <a:pPr marL="272415" algn="just">
              <a:lnSpc>
                <a:spcPct val="100000"/>
              </a:lnSpc>
              <a:spcBef>
                <a:spcPts val="200"/>
              </a:spcBef>
            </a:pPr>
            <a:endParaRPr lang="pt-BR" sz="1300" spc="-10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72415" algn="just">
              <a:lnSpc>
                <a:spcPct val="100000"/>
              </a:lnSpc>
              <a:spcBef>
                <a:spcPts val="200"/>
              </a:spcBef>
            </a:pPr>
            <a:r>
              <a:rPr lang="pt-BR" sz="1300" b="1" spc="-10" dirty="0">
                <a:solidFill>
                  <a:srgbClr val="191919"/>
                </a:solidFill>
                <a:latin typeface="Calibri"/>
                <a:cs typeface="Calibri"/>
              </a:rPr>
              <a:t>Resposta do agente: </a:t>
            </a:r>
            <a:r>
              <a:rPr lang="pt-BR" sz="1300" spc="-10" dirty="0">
                <a:solidFill>
                  <a:srgbClr val="191919"/>
                </a:solidFill>
                <a:latin typeface="Calibri"/>
                <a:cs typeface="Calibri"/>
              </a:rPr>
              <a:t>A coluna </a:t>
            </a:r>
            <a:r>
              <a:rPr lang="pt-BR" sz="1300" spc="-10" dirty="0" err="1">
                <a:solidFill>
                  <a:srgbClr val="191919"/>
                </a:solidFill>
                <a:latin typeface="Calibri"/>
                <a:cs typeface="Calibri"/>
              </a:rPr>
              <a:t>valor_total</a:t>
            </a:r>
            <a:r>
              <a:rPr lang="pt-BR" sz="1300" spc="-10" dirty="0">
                <a:solidFill>
                  <a:srgbClr val="191919"/>
                </a:solidFill>
                <a:latin typeface="Calibri"/>
                <a:cs typeface="Calibri"/>
              </a:rPr>
              <a:t> não possui nenhum valor nulo. Todas as 1.500 linhas estão preenchidas.</a:t>
            </a:r>
            <a:endParaRPr sz="1300" b="1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380"/>
              </a:spcBef>
            </a:pPr>
            <a:endParaRPr sz="1300" dirty="0">
              <a:latin typeface="Calibri"/>
              <a:cs typeface="Calibri"/>
            </a:endParaRPr>
          </a:p>
          <a:p>
            <a:pPr marL="272415" algn="just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solidFill>
                  <a:srgbClr val="191919"/>
                </a:solidFill>
                <a:latin typeface="Calibri"/>
                <a:cs typeface="Calibri"/>
              </a:rPr>
              <a:t>Hipótese</a:t>
            </a:r>
            <a:r>
              <a:rPr sz="1300" b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91919"/>
                </a:solidFill>
                <a:latin typeface="Calibri"/>
                <a:cs typeface="Calibri"/>
              </a:rPr>
              <a:t>da</a:t>
            </a:r>
            <a:r>
              <a:rPr sz="1300" b="1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191919"/>
                </a:solidFill>
                <a:latin typeface="Calibri"/>
                <a:cs typeface="Calibri"/>
              </a:rPr>
              <a:t>causa:</a:t>
            </a:r>
            <a:endParaRPr sz="1300" dirty="0">
              <a:latin typeface="Calibri"/>
              <a:cs typeface="Calibri"/>
            </a:endParaRPr>
          </a:p>
          <a:p>
            <a:pPr marL="272415" algn="just">
              <a:lnSpc>
                <a:spcPct val="100000"/>
              </a:lnSpc>
              <a:spcBef>
                <a:spcPts val="200"/>
              </a:spcBef>
            </a:pPr>
            <a:r>
              <a:rPr lang="pt-BR" sz="1300" spc="-10" dirty="0">
                <a:solidFill>
                  <a:srgbClr val="191919"/>
                </a:solidFill>
                <a:latin typeface="Calibri"/>
                <a:cs typeface="Calibri"/>
              </a:rPr>
              <a:t>Embora a informação estivesse correta, o comparador antigo verificava apenas se a resposta era exatamente igual ao gabarito e acabava marcando a questão como incorreta.</a:t>
            </a:r>
          </a:p>
          <a:p>
            <a:pPr marL="272415" algn="just">
              <a:lnSpc>
                <a:spcPct val="100000"/>
              </a:lnSpc>
              <a:spcBef>
                <a:spcPts val="200"/>
              </a:spcBef>
            </a:pPr>
            <a:endParaRPr lang="pt-BR" sz="1300" spc="-10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72415" algn="just">
              <a:lnSpc>
                <a:spcPct val="100000"/>
              </a:lnSpc>
              <a:spcBef>
                <a:spcPts val="200"/>
              </a:spcBef>
            </a:pPr>
            <a:r>
              <a:rPr lang="pt-BR" sz="1300" b="1" spc="-10" dirty="0">
                <a:solidFill>
                  <a:srgbClr val="191919"/>
                </a:solidFill>
                <a:latin typeface="Calibri"/>
                <a:cs typeface="Calibri"/>
              </a:rPr>
              <a:t>Solução implementada: </a:t>
            </a:r>
            <a:r>
              <a:rPr lang="pt-BR" sz="1300" spc="-10" dirty="0">
                <a:solidFill>
                  <a:srgbClr val="191919"/>
                </a:solidFill>
                <a:latin typeface="Calibri"/>
                <a:cs typeface="Calibri"/>
              </a:rPr>
              <a:t>Os comparadores de metrics.py foram reescritos para extrair e comparar valores numéricos presentas na resposta, permitindo aceitar respostas mais completas sem perder a correção da avaliação.</a:t>
            </a:r>
            <a:endParaRPr sz="1300" b="1" dirty="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54139D6-1A7A-541B-0CFE-1A859D06235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DDF6E57-2405-B999-06E4-60F649B1860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7CE5206-0A5D-31F8-F4DD-A0C638DD8D7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696601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B3ED9-0783-1DB4-4ACA-7614153D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44" y="200418"/>
            <a:ext cx="5201920" cy="400110"/>
          </a:xfrm>
        </p:spPr>
        <p:txBody>
          <a:bodyPr/>
          <a:lstStyle/>
          <a:p>
            <a:r>
              <a:rPr lang="pt-BR" dirty="0"/>
              <a:t>8.</a:t>
            </a:r>
            <a:r>
              <a:rPr lang="pt-BR" spc="-45" dirty="0"/>
              <a:t> </a:t>
            </a:r>
            <a:r>
              <a:rPr lang="pt-BR" dirty="0"/>
              <a:t>Análise</a:t>
            </a:r>
            <a:r>
              <a:rPr lang="pt-BR" spc="-50" dirty="0"/>
              <a:t> </a:t>
            </a:r>
            <a:r>
              <a:rPr lang="pt-BR" dirty="0"/>
              <a:t>de</a:t>
            </a:r>
            <a:r>
              <a:rPr lang="pt-BR" spc="-45" dirty="0"/>
              <a:t> </a:t>
            </a:r>
            <a:r>
              <a:rPr lang="pt-BR" spc="-10" dirty="0"/>
              <a:t>erros - Exemplo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45EF795-527F-22F2-EA8B-F02D18C43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800"/>
            <a:ext cx="12192000" cy="283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74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spc="-50" dirty="0"/>
              <a:t> </a:t>
            </a:r>
            <a:r>
              <a:rPr dirty="0"/>
              <a:t>Discussão</a:t>
            </a:r>
            <a:r>
              <a:rPr spc="-60" dirty="0"/>
              <a:t> </a:t>
            </a:r>
            <a:r>
              <a:rPr spc="-10" dirty="0"/>
              <a:t>crítica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7001" y="3921721"/>
            <a:ext cx="11261090" cy="2580005"/>
            <a:chOff x="447001" y="3921721"/>
            <a:chExt cx="11261090" cy="2580005"/>
          </a:xfrm>
        </p:grpSpPr>
        <p:sp>
          <p:nvSpPr>
            <p:cNvPr id="4" name="object 4"/>
            <p:cNvSpPr/>
            <p:nvPr/>
          </p:nvSpPr>
          <p:spPr>
            <a:xfrm>
              <a:off x="457199" y="6400800"/>
              <a:ext cx="11247120" cy="635"/>
            </a:xfrm>
            <a:custGeom>
              <a:avLst/>
              <a:gdLst/>
              <a:ahLst/>
              <a:cxnLst/>
              <a:rect l="l" t="t" r="r" b="b"/>
              <a:pathLst>
                <a:path w="11247120" h="635">
                  <a:moveTo>
                    <a:pt x="0" y="0"/>
                  </a:moveTo>
                  <a:lnTo>
                    <a:pt x="11247120" y="355"/>
                  </a:lnTo>
                </a:path>
              </a:pathLst>
            </a:custGeom>
            <a:ln w="6479">
              <a:solidFill>
                <a:srgbClr val="C7C7C7"/>
              </a:solidFill>
            </a:ln>
          </p:spPr>
          <p:txBody>
            <a:bodyPr wrap="non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3931564"/>
              <a:ext cx="3657600" cy="2560320"/>
            </a:xfrm>
            <a:custGeom>
              <a:avLst/>
              <a:gdLst/>
              <a:ahLst/>
              <a:cxnLst/>
              <a:rect l="l" t="t" r="r" b="b"/>
              <a:pathLst>
                <a:path w="3657600" h="2560320">
                  <a:moveTo>
                    <a:pt x="3657231" y="0"/>
                  </a:moveTo>
                  <a:lnTo>
                    <a:pt x="0" y="0"/>
                  </a:lnTo>
                  <a:lnTo>
                    <a:pt x="0" y="2559951"/>
                  </a:lnTo>
                  <a:lnTo>
                    <a:pt x="1828800" y="2559951"/>
                  </a:lnTo>
                  <a:lnTo>
                    <a:pt x="3657231" y="2559951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non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6844" y="3931564"/>
              <a:ext cx="3657600" cy="2560320"/>
            </a:xfrm>
            <a:custGeom>
              <a:avLst/>
              <a:gdLst/>
              <a:ahLst/>
              <a:cxnLst/>
              <a:rect l="l" t="t" r="r" b="b"/>
              <a:pathLst>
                <a:path w="3657600" h="2560320">
                  <a:moveTo>
                    <a:pt x="1828800" y="2559951"/>
                  </a:moveTo>
                  <a:lnTo>
                    <a:pt x="0" y="2559951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2559951"/>
                  </a:lnTo>
                  <a:lnTo>
                    <a:pt x="1828800" y="2559951"/>
                  </a:lnTo>
                  <a:close/>
                </a:path>
              </a:pathLst>
            </a:custGeom>
            <a:ln w="19079">
              <a:solidFill>
                <a:srgbClr val="4F4F4F"/>
              </a:solidFill>
            </a:ln>
          </p:spPr>
          <p:txBody>
            <a:bodyPr wrap="non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59778" y="1188363"/>
            <a:ext cx="3657600" cy="2504541"/>
          </a:xfrm>
          <a:custGeom>
            <a:avLst/>
            <a:gdLst/>
            <a:ahLst/>
            <a:cxnLst/>
            <a:rect l="l" t="t" r="r" b="b"/>
            <a:pathLst>
              <a:path w="3657600" h="2560320">
                <a:moveTo>
                  <a:pt x="3657231" y="0"/>
                </a:moveTo>
                <a:lnTo>
                  <a:pt x="0" y="0"/>
                </a:lnTo>
                <a:lnTo>
                  <a:pt x="0" y="2559951"/>
                </a:lnTo>
                <a:lnTo>
                  <a:pt x="1828800" y="2559951"/>
                </a:lnTo>
                <a:lnTo>
                  <a:pt x="3657231" y="2559951"/>
                </a:lnTo>
                <a:lnTo>
                  <a:pt x="365723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0779" y="1172904"/>
            <a:ext cx="3646599" cy="2484000"/>
          </a:xfrm>
          <a:prstGeom prst="rect">
            <a:avLst/>
          </a:prstGeom>
          <a:ln w="19079">
            <a:solidFill>
              <a:srgbClr val="21814F"/>
            </a:solidFill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226695">
              <a:lnSpc>
                <a:spcPct val="100000"/>
              </a:lnSpc>
              <a:spcBef>
                <a:spcPts val="1065"/>
              </a:spcBef>
            </a:pPr>
            <a:r>
              <a:rPr sz="2000" spc="80" dirty="0">
                <a:solidFill>
                  <a:srgbClr val="21814F"/>
                </a:solidFill>
                <a:latin typeface="Segoe UI Symbol"/>
                <a:cs typeface="Segoe UI Symbol"/>
              </a:rPr>
              <a:t>💰</a:t>
            </a:r>
            <a:r>
              <a:rPr sz="2000" spc="-135" dirty="0">
                <a:solidFill>
                  <a:srgbClr val="21814F"/>
                </a:solidFill>
                <a:latin typeface="Segoe UI Symbol"/>
                <a:cs typeface="Segoe UI Symbol"/>
              </a:rPr>
              <a:t> </a:t>
            </a:r>
            <a:r>
              <a:rPr b="1" spc="-10" dirty="0">
                <a:solidFill>
                  <a:srgbClr val="21814F"/>
                </a:solidFill>
                <a:latin typeface="Calibri"/>
                <a:cs typeface="Calibri"/>
              </a:rPr>
              <a:t>Custo</a:t>
            </a:r>
            <a:endParaRPr dirty="0">
              <a:latin typeface="Calibri"/>
              <a:cs typeface="Calibri"/>
            </a:endParaRPr>
          </a:p>
          <a:p>
            <a:pPr marL="226695" marR="1183005">
              <a:lnSpc>
                <a:spcPct val="100000"/>
              </a:lnSpc>
              <a:spcBef>
                <a:spcPts val="1270"/>
              </a:spcBef>
            </a:pPr>
            <a:r>
              <a:rPr sz="1200" b="1" i="1" spc="-20" dirty="0">
                <a:solidFill>
                  <a:srgbClr val="191919"/>
                </a:solidFill>
                <a:latin typeface="Calibri"/>
                <a:cs typeface="Calibri"/>
              </a:rPr>
              <a:t>Total</a:t>
            </a:r>
            <a:r>
              <a:rPr sz="1200" b="1" i="1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gasto</a:t>
            </a:r>
            <a:r>
              <a:rPr sz="1200" b="1" i="1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no</a:t>
            </a:r>
            <a:r>
              <a:rPr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benchmark:</a:t>
            </a:r>
            <a:endParaRPr lang="pt-BR" sz="1200" b="1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 marR="1183005">
              <a:lnSpc>
                <a:spcPct val="100000"/>
              </a:lnSpc>
              <a:spcBef>
                <a:spcPts val="1270"/>
              </a:spcBef>
            </a:pP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US$</a:t>
            </a:r>
            <a:r>
              <a:rPr sz="1200" b="1" i="1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lang="pt-BR" sz="1200" b="1" i="1" spc="-10" dirty="0">
                <a:solidFill>
                  <a:srgbClr val="191919"/>
                </a:solidFill>
                <a:latin typeface="Calibri"/>
                <a:cs typeface="Calibri"/>
              </a:rPr>
              <a:t>0,036953</a:t>
            </a:r>
            <a:r>
              <a:rPr sz="1200" b="1" i="1" spc="-10" dirty="0">
                <a:solidFill>
                  <a:srgbClr val="191919"/>
                </a:solidFill>
                <a:latin typeface="Calibri"/>
                <a:cs typeface="Calibri"/>
              </a:rPr>
              <a:t>. </a:t>
            </a:r>
            <a:endParaRPr lang="pt-BR" sz="1200" b="1" i="1" spc="-10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 marR="1183005">
              <a:lnSpc>
                <a:spcPct val="100000"/>
              </a:lnSpc>
              <a:spcBef>
                <a:spcPts val="1270"/>
              </a:spcBef>
            </a:pPr>
            <a:r>
              <a:rPr lang="pt-BR" sz="1200" b="1" i="1" spc="-10" dirty="0">
                <a:solidFill>
                  <a:srgbClr val="191919"/>
                </a:solidFill>
                <a:latin typeface="Calibri"/>
                <a:cs typeface="Calibri"/>
              </a:rPr>
              <a:t>C</a:t>
            </a:r>
            <a:r>
              <a:rPr sz="1200" b="1" i="1" dirty="0" err="1">
                <a:solidFill>
                  <a:srgbClr val="191919"/>
                </a:solidFill>
                <a:latin typeface="Calibri"/>
                <a:cs typeface="Calibri"/>
              </a:rPr>
              <a:t>usto</a:t>
            </a:r>
            <a:r>
              <a:rPr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médio</a:t>
            </a:r>
            <a:r>
              <a:rPr sz="1200" b="1" i="1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 err="1">
                <a:solidFill>
                  <a:srgbClr val="191919"/>
                </a:solidFill>
                <a:latin typeface="Calibri"/>
                <a:cs typeface="Calibri"/>
              </a:rPr>
              <a:t>por</a:t>
            </a:r>
            <a:r>
              <a:rPr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 err="1">
                <a:solidFill>
                  <a:srgbClr val="191919"/>
                </a:solidFill>
                <a:latin typeface="Calibri"/>
                <a:cs typeface="Calibri"/>
              </a:rPr>
              <a:t>pergunta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:</a:t>
            </a:r>
            <a:endParaRPr lang="pt-BR" sz="1200" b="1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 marR="1183005">
              <a:lnSpc>
                <a:spcPct val="100000"/>
              </a:lnSpc>
              <a:spcBef>
                <a:spcPts val="1270"/>
              </a:spcBef>
            </a:pP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US$</a:t>
            </a:r>
            <a:r>
              <a:rPr sz="1200" b="1" i="1" spc="-10" dirty="0">
                <a:solidFill>
                  <a:srgbClr val="191919"/>
                </a:solidFill>
                <a:latin typeface="Calibri"/>
                <a:cs typeface="Calibri"/>
              </a:rPr>
              <a:t>0,00</a:t>
            </a:r>
            <a:r>
              <a:rPr lang="pt-BR" sz="1200" b="1" i="1" spc="-10" dirty="0">
                <a:solidFill>
                  <a:srgbClr val="191919"/>
                </a:solidFill>
                <a:latin typeface="Calibri"/>
                <a:cs typeface="Calibri"/>
              </a:rPr>
              <a:t>1232</a:t>
            </a:r>
            <a:r>
              <a:rPr sz="1200" b="1" i="1" spc="-10" dirty="0">
                <a:solidFill>
                  <a:srgbClr val="191919"/>
                </a:solidFill>
                <a:latin typeface="Calibri"/>
                <a:cs typeface="Calibri"/>
              </a:rPr>
              <a:t>. </a:t>
            </a:r>
            <a:endParaRPr lang="pt-BR" sz="1200" b="1" i="1" spc="-10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 marR="1183005">
              <a:lnSpc>
                <a:spcPct val="100000"/>
              </a:lnSpc>
              <a:spcBef>
                <a:spcPts val="1270"/>
              </a:spcBef>
            </a:pPr>
            <a:r>
              <a:rPr sz="1200" b="1" i="1" dirty="0" err="1">
                <a:solidFill>
                  <a:srgbClr val="191919"/>
                </a:solidFill>
                <a:latin typeface="Calibri"/>
                <a:cs typeface="Calibri"/>
              </a:rPr>
              <a:t>Viável</a:t>
            </a:r>
            <a:r>
              <a:rPr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em</a:t>
            </a:r>
            <a:r>
              <a:rPr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escala?</a:t>
            </a:r>
            <a:r>
              <a:rPr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endParaRPr lang="pt-BR" sz="1200" b="1" i="1" spc="-25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 marR="1183005">
              <a:lnSpc>
                <a:spcPct val="100000"/>
              </a:lnSpc>
              <a:spcBef>
                <a:spcPts val="1270"/>
              </a:spcBef>
            </a:pPr>
            <a:r>
              <a:rPr lang="pt-BR"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Uso viável em contexto acadêmico</a:t>
            </a:r>
            <a:endParaRPr sz="1200" b="1" dirty="0">
              <a:solidFill>
                <a:srgbClr val="191919"/>
              </a:solidFill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88764" y="1188364"/>
            <a:ext cx="3636000" cy="2484000"/>
          </a:xfrm>
          <a:custGeom>
            <a:avLst/>
            <a:gdLst/>
            <a:ahLst/>
            <a:cxnLst/>
            <a:rect l="l" t="t" r="r" b="b"/>
            <a:pathLst>
              <a:path w="3657600" h="2560320">
                <a:moveTo>
                  <a:pt x="3657231" y="0"/>
                </a:moveTo>
                <a:lnTo>
                  <a:pt x="0" y="0"/>
                </a:lnTo>
                <a:lnTo>
                  <a:pt x="0" y="2559951"/>
                </a:lnTo>
                <a:lnTo>
                  <a:pt x="1828800" y="2559951"/>
                </a:lnTo>
                <a:lnTo>
                  <a:pt x="3657231" y="2559951"/>
                </a:lnTo>
                <a:lnTo>
                  <a:pt x="365723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88764" y="1188361"/>
            <a:ext cx="3636000" cy="2448000"/>
          </a:xfrm>
          <a:prstGeom prst="rect">
            <a:avLst/>
          </a:prstGeom>
          <a:ln w="19079">
            <a:solidFill>
              <a:srgbClr val="4581B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65"/>
              </a:spcBef>
            </a:pPr>
            <a:r>
              <a:rPr spc="250" dirty="0">
                <a:solidFill>
                  <a:srgbClr val="4581B3"/>
                </a:solidFill>
                <a:latin typeface="Segoe UI Symbol"/>
                <a:cs typeface="Segoe UI Symbol"/>
              </a:rPr>
              <a:t>⏱</a:t>
            </a:r>
            <a:r>
              <a:rPr spc="-135" dirty="0">
                <a:solidFill>
                  <a:srgbClr val="4581B3"/>
                </a:solidFill>
                <a:latin typeface="Segoe UI Symbol"/>
                <a:cs typeface="Segoe UI Symbol"/>
              </a:rPr>
              <a:t> </a:t>
            </a:r>
            <a:r>
              <a:rPr sz="1600" b="1" spc="-10" dirty="0">
                <a:solidFill>
                  <a:srgbClr val="4581B3"/>
                </a:solidFill>
                <a:latin typeface="Calibri"/>
                <a:cs typeface="Calibri"/>
              </a:rPr>
              <a:t>Latência</a:t>
            </a:r>
            <a:endParaRPr sz="1600" dirty="0">
              <a:latin typeface="Calibri"/>
              <a:cs typeface="Calibri"/>
            </a:endParaRPr>
          </a:p>
          <a:p>
            <a:pPr marL="226695" marR="2008505">
              <a:lnSpc>
                <a:spcPct val="100000"/>
              </a:lnSpc>
              <a:spcBef>
                <a:spcPts val="1270"/>
              </a:spcBef>
            </a:pPr>
            <a:r>
              <a:rPr sz="1200" b="1" i="1" dirty="0" err="1">
                <a:solidFill>
                  <a:srgbClr val="191919"/>
                </a:solidFill>
                <a:latin typeface="Calibri"/>
                <a:cs typeface="Calibri"/>
              </a:rPr>
              <a:t>Resposta</a:t>
            </a:r>
            <a:r>
              <a:rPr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spc="-10" dirty="0">
                <a:solidFill>
                  <a:srgbClr val="191919"/>
                </a:solidFill>
                <a:latin typeface="Calibri"/>
                <a:cs typeface="Calibri"/>
              </a:rPr>
              <a:t>multi-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tool:</a:t>
            </a:r>
            <a:endParaRPr lang="pt-BR" sz="1200" b="1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 marR="2008505">
              <a:lnSpc>
                <a:spcPct val="100000"/>
              </a:lnSpc>
              <a:spcBef>
                <a:spcPts val="1270"/>
              </a:spcBef>
            </a:pPr>
            <a:r>
              <a:rPr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spc="-20" dirty="0">
                <a:solidFill>
                  <a:srgbClr val="191919"/>
                </a:solidFill>
                <a:latin typeface="Calibri"/>
                <a:cs typeface="Calibri"/>
              </a:rPr>
              <a:t>[</a:t>
            </a:r>
            <a:r>
              <a:rPr lang="pt-BR" sz="1200" b="1" i="1" spc="-20" dirty="0">
                <a:solidFill>
                  <a:srgbClr val="191919"/>
                </a:solidFill>
                <a:latin typeface="Calibri"/>
                <a:cs typeface="Calibri"/>
              </a:rPr>
              <a:t>4,71</a:t>
            </a:r>
            <a:r>
              <a:rPr sz="1200" b="1" i="1" spc="-20" dirty="0">
                <a:solidFill>
                  <a:srgbClr val="191919"/>
                </a:solidFill>
                <a:latin typeface="Calibri"/>
                <a:cs typeface="Calibri"/>
              </a:rPr>
              <a:t>s].</a:t>
            </a:r>
            <a:endParaRPr lang="pt-BR" sz="1200" b="1" i="1" spc="-20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 marR="2008505">
              <a:lnSpc>
                <a:spcPct val="100000"/>
              </a:lnSpc>
              <a:spcBef>
                <a:spcPts val="1270"/>
              </a:spcBef>
            </a:pPr>
            <a:endParaRPr sz="1200" dirty="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</a:pP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Gargalo</a:t>
            </a:r>
            <a:r>
              <a:rPr sz="1200" b="1" i="1" spc="-2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principal:</a:t>
            </a:r>
            <a:endParaRPr lang="pt-BR" sz="1200" b="1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</a:pPr>
            <a:endParaRPr lang="pt-BR" sz="1200" i="1" spc="-20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</a:pPr>
            <a:r>
              <a:rPr sz="1200" i="1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API</a:t>
            </a:r>
            <a:endParaRPr lang="pt-BR" sz="1200" b="1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</a:pPr>
            <a:endParaRPr sz="12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13757" y="1165271"/>
            <a:ext cx="3657600" cy="2484000"/>
          </a:xfrm>
          <a:custGeom>
            <a:avLst/>
            <a:gdLst/>
            <a:ahLst/>
            <a:cxnLst/>
            <a:rect l="l" t="t" r="r" b="b"/>
            <a:pathLst>
              <a:path w="3657600" h="2560320">
                <a:moveTo>
                  <a:pt x="3657231" y="0"/>
                </a:moveTo>
                <a:lnTo>
                  <a:pt x="0" y="0"/>
                </a:lnTo>
                <a:lnTo>
                  <a:pt x="0" y="2559951"/>
                </a:lnTo>
                <a:lnTo>
                  <a:pt x="1828800" y="2559951"/>
                </a:lnTo>
                <a:lnTo>
                  <a:pt x="3657231" y="2559951"/>
                </a:lnTo>
                <a:lnTo>
                  <a:pt x="365723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non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320684" y="1188363"/>
            <a:ext cx="3657600" cy="2484000"/>
          </a:xfrm>
          <a:prstGeom prst="rect">
            <a:avLst/>
          </a:prstGeom>
          <a:ln w="19079">
            <a:solidFill>
              <a:srgbClr val="C74F13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65"/>
              </a:spcBef>
            </a:pPr>
            <a:r>
              <a:rPr spc="80" dirty="0">
                <a:solidFill>
                  <a:srgbClr val="C74F13"/>
                </a:solidFill>
                <a:latin typeface="Segoe UI Symbol"/>
                <a:cs typeface="Segoe UI Symbol"/>
              </a:rPr>
              <a:t>🎯</a:t>
            </a:r>
            <a:r>
              <a:rPr spc="-135" dirty="0">
                <a:solidFill>
                  <a:srgbClr val="C74F13"/>
                </a:solidFill>
                <a:latin typeface="Segoe UI Symbol"/>
                <a:cs typeface="Segoe UI Symbol"/>
              </a:rPr>
              <a:t> </a:t>
            </a:r>
            <a:r>
              <a:rPr sz="1600" b="1" spc="-10" dirty="0">
                <a:solidFill>
                  <a:srgbClr val="C74F13"/>
                </a:solidFill>
                <a:latin typeface="Calibri"/>
                <a:cs typeface="Calibri"/>
              </a:rPr>
              <a:t>Alucinação</a:t>
            </a:r>
            <a:endParaRPr sz="1600" dirty="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1270"/>
              </a:spcBef>
            </a:pP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Casos</a:t>
            </a:r>
            <a:r>
              <a:rPr sz="1200" b="1" i="1" spc="-3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detectados:</a:t>
            </a:r>
            <a:r>
              <a:rPr sz="1200" b="1" i="1" spc="-20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lang="pt-BR" sz="1200" b="1" i="1" spc="-20" dirty="0">
                <a:solidFill>
                  <a:srgbClr val="191919"/>
                </a:solidFill>
                <a:latin typeface="Calibri"/>
                <a:cs typeface="Calibri"/>
              </a:rPr>
              <a:t>0</a:t>
            </a:r>
            <a:r>
              <a:rPr sz="1200" b="1" i="1" spc="-15" dirty="0">
                <a:solidFill>
                  <a:srgbClr val="191919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191919"/>
                </a:solidFill>
                <a:latin typeface="Calibri"/>
                <a:cs typeface="Calibri"/>
              </a:rPr>
              <a:t>de</a:t>
            </a:r>
            <a:r>
              <a:rPr sz="1200" b="1" i="1" spc="-20" dirty="0">
                <a:solidFill>
                  <a:srgbClr val="191919"/>
                </a:solidFill>
                <a:latin typeface="Calibri"/>
                <a:cs typeface="Calibri"/>
              </a:rPr>
              <a:t> 30</a:t>
            </a:r>
            <a:r>
              <a:rPr sz="1100" b="1" i="1" spc="-20" dirty="0">
                <a:solidFill>
                  <a:srgbClr val="191919"/>
                </a:solidFill>
                <a:latin typeface="Calibri"/>
                <a:cs typeface="Calibri"/>
              </a:rPr>
              <a:t>.</a:t>
            </a:r>
            <a:endParaRPr sz="1100" b="1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6844" y="4054828"/>
            <a:ext cx="3648090" cy="20486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95"/>
              </a:spcBef>
            </a:pPr>
            <a:r>
              <a:rPr spc="180" dirty="0">
                <a:solidFill>
                  <a:srgbClr val="4F4F4F"/>
                </a:solidFill>
                <a:latin typeface="Segoe UI Symbol"/>
                <a:cs typeface="Segoe UI Symbol"/>
              </a:rPr>
              <a:t>⚖</a:t>
            </a:r>
            <a:r>
              <a:rPr spc="-135" dirty="0">
                <a:solidFill>
                  <a:srgbClr val="4F4F4F"/>
                </a:solidFill>
                <a:latin typeface="Segoe UI Symbol"/>
                <a:cs typeface="Segoe UI Symbol"/>
              </a:rPr>
              <a:t> </a:t>
            </a:r>
            <a:r>
              <a:rPr sz="1600" b="1" spc="-10" dirty="0">
                <a:solidFill>
                  <a:srgbClr val="4F4F4F"/>
                </a:solidFill>
                <a:latin typeface="Calibri"/>
                <a:cs typeface="Calibri"/>
              </a:rPr>
              <a:t>Limitações</a:t>
            </a:r>
            <a:endParaRPr sz="1600" dirty="0">
              <a:latin typeface="Calibri"/>
              <a:cs typeface="Calibri"/>
            </a:endParaRPr>
          </a:p>
          <a:p>
            <a:pPr marL="217170" marR="1231265">
              <a:lnSpc>
                <a:spcPct val="100000"/>
              </a:lnSpc>
              <a:spcBef>
                <a:spcPts val="1265"/>
              </a:spcBef>
            </a:pPr>
            <a:r>
              <a:rPr lang="pt-BR" sz="1200" b="1" i="1" dirty="0">
                <a:solidFill>
                  <a:srgbClr val="191919"/>
                </a:solidFill>
                <a:latin typeface="Calibri"/>
                <a:cs typeface="Calibri"/>
              </a:rPr>
              <a:t>Modelo avaliado em apenas um </a:t>
            </a:r>
            <a:r>
              <a:rPr lang="pt-BR" sz="1200" b="1" i="1" dirty="0" err="1">
                <a:solidFill>
                  <a:srgbClr val="191919"/>
                </a:solidFill>
                <a:latin typeface="Calibri"/>
                <a:cs typeface="Calibri"/>
              </a:rPr>
              <a:t>dataset</a:t>
            </a:r>
            <a:endParaRPr lang="pt-BR" sz="1200" b="1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17170" marR="1231265">
              <a:lnSpc>
                <a:spcPct val="100000"/>
              </a:lnSpc>
              <a:spcBef>
                <a:spcPts val="1265"/>
              </a:spcBef>
            </a:pPr>
            <a:endParaRPr lang="pt-BR" sz="1200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217170" marR="1231265">
              <a:lnSpc>
                <a:spcPct val="100000"/>
              </a:lnSpc>
              <a:spcBef>
                <a:spcPts val="1265"/>
              </a:spcBef>
            </a:pPr>
            <a:r>
              <a:rPr lang="pt-BR" sz="1200" b="1" i="1" dirty="0">
                <a:solidFill>
                  <a:srgbClr val="191919"/>
                </a:solidFill>
                <a:latin typeface="Calibri"/>
                <a:cs typeface="Calibri"/>
              </a:rPr>
              <a:t>Dependência das ferramentas implementadas</a:t>
            </a:r>
          </a:p>
          <a:p>
            <a:pPr marL="217170" marR="1231265">
              <a:lnSpc>
                <a:spcPct val="100000"/>
              </a:lnSpc>
              <a:spcBef>
                <a:spcPts val="1265"/>
              </a:spcBef>
            </a:pPr>
            <a:endParaRPr sz="11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78921" y="3921721"/>
            <a:ext cx="3677285" cy="2580005"/>
            <a:chOff x="4378921" y="3921721"/>
            <a:chExt cx="3677285" cy="2580005"/>
          </a:xfrm>
        </p:grpSpPr>
        <p:sp>
          <p:nvSpPr>
            <p:cNvPr id="15" name="object 15"/>
            <p:cNvSpPr/>
            <p:nvPr/>
          </p:nvSpPr>
          <p:spPr>
            <a:xfrm>
              <a:off x="4388764" y="3931564"/>
              <a:ext cx="3657600" cy="2560320"/>
            </a:xfrm>
            <a:custGeom>
              <a:avLst/>
              <a:gdLst/>
              <a:ahLst/>
              <a:cxnLst/>
              <a:rect l="l" t="t" r="r" b="b"/>
              <a:pathLst>
                <a:path w="3657600" h="2560320">
                  <a:moveTo>
                    <a:pt x="3657231" y="0"/>
                  </a:moveTo>
                  <a:lnTo>
                    <a:pt x="0" y="0"/>
                  </a:lnTo>
                  <a:lnTo>
                    <a:pt x="0" y="2559951"/>
                  </a:lnTo>
                  <a:lnTo>
                    <a:pt x="1828800" y="2559951"/>
                  </a:lnTo>
                  <a:lnTo>
                    <a:pt x="3657231" y="2559951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non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88764" y="3931564"/>
              <a:ext cx="3657600" cy="2560320"/>
            </a:xfrm>
            <a:custGeom>
              <a:avLst/>
              <a:gdLst/>
              <a:ahLst/>
              <a:cxnLst/>
              <a:rect l="l" t="t" r="r" b="b"/>
              <a:pathLst>
                <a:path w="3657600" h="2560320">
                  <a:moveTo>
                    <a:pt x="1828800" y="2559951"/>
                  </a:moveTo>
                  <a:lnTo>
                    <a:pt x="0" y="2559951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2559951"/>
                  </a:lnTo>
                  <a:lnTo>
                    <a:pt x="1828800" y="2559951"/>
                  </a:lnTo>
                  <a:close/>
                </a:path>
              </a:pathLst>
            </a:custGeom>
            <a:ln w="19079">
              <a:solidFill>
                <a:srgbClr val="003366"/>
              </a:solidFill>
            </a:ln>
          </p:spPr>
          <p:txBody>
            <a:bodyPr wrap="non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76725" y="3989257"/>
            <a:ext cx="3638550" cy="2353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95"/>
              </a:spcBef>
            </a:pPr>
            <a:r>
              <a:rPr sz="1600" b="1" spc="80" dirty="0">
                <a:solidFill>
                  <a:srgbClr val="003366"/>
                </a:solidFill>
                <a:latin typeface="Segoe UI Symbol"/>
                <a:cs typeface="Segoe UI Symbol"/>
              </a:rPr>
              <a:t>🛡</a:t>
            </a:r>
            <a:r>
              <a:rPr sz="1600" b="1" spc="-135" dirty="0">
                <a:solidFill>
                  <a:srgbClr val="003366"/>
                </a:solidFill>
                <a:latin typeface="Segoe UI Symbol"/>
                <a:cs typeface="Segoe UI Symbo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Ética</a:t>
            </a:r>
            <a:r>
              <a:rPr sz="1600" b="1" spc="-4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e</a:t>
            </a:r>
            <a:r>
              <a:rPr sz="1600" b="1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spc="-20" dirty="0" err="1">
                <a:solidFill>
                  <a:srgbClr val="003366"/>
                </a:solidFill>
                <a:latin typeface="Calibri"/>
                <a:cs typeface="Calibri"/>
              </a:rPr>
              <a:t>viés</a:t>
            </a:r>
            <a:endParaRPr lang="pt-BR" sz="1600" b="1" spc="-20" dirty="0">
              <a:solidFill>
                <a:srgbClr val="003366"/>
              </a:solidFill>
              <a:latin typeface="Calibri"/>
              <a:cs typeface="Calibri"/>
            </a:endParaRPr>
          </a:p>
          <a:p>
            <a:pPr marL="217170">
              <a:lnSpc>
                <a:spcPct val="100000"/>
              </a:lnSpc>
              <a:spcBef>
                <a:spcPts val="95"/>
              </a:spcBef>
            </a:pPr>
            <a:endParaRPr lang="pt-BR" sz="1200" b="1" spc="-20" dirty="0">
              <a:solidFill>
                <a:srgbClr val="003366"/>
              </a:solidFill>
              <a:latin typeface="Calibri"/>
              <a:cs typeface="Calibri"/>
            </a:endParaRPr>
          </a:p>
          <a:p>
            <a:pPr marL="217170" algn="just">
              <a:lnSpc>
                <a:spcPct val="100000"/>
              </a:lnSpc>
              <a:spcBef>
                <a:spcPts val="95"/>
              </a:spcBef>
            </a:pPr>
            <a:r>
              <a:rPr lang="pt-BR" sz="1200" b="1" i="1" spc="-20" dirty="0">
                <a:solidFill>
                  <a:srgbClr val="003366"/>
                </a:solidFill>
                <a:latin typeface="Calibri"/>
                <a:cs typeface="Calibri"/>
              </a:rPr>
              <a:t>O </a:t>
            </a:r>
            <a:r>
              <a:rPr lang="pt-BR" sz="1200" b="1" i="1" spc="-20" dirty="0" err="1">
                <a:solidFill>
                  <a:srgbClr val="003366"/>
                </a:solidFill>
                <a:latin typeface="Calibri"/>
                <a:cs typeface="Calibri"/>
              </a:rPr>
              <a:t>dataset</a:t>
            </a:r>
            <a:r>
              <a:rPr lang="pt-BR" sz="1200" b="1" i="1" spc="-20" dirty="0">
                <a:solidFill>
                  <a:srgbClr val="003366"/>
                </a:solidFill>
                <a:latin typeface="Calibri"/>
                <a:cs typeface="Calibri"/>
              </a:rPr>
              <a:t> utilizado apresenta apenas dados sintéticos, consequentemente apenas um cenário específico de vendas.</a:t>
            </a:r>
          </a:p>
          <a:p>
            <a:pPr marL="217170" algn="just">
              <a:lnSpc>
                <a:spcPct val="100000"/>
              </a:lnSpc>
              <a:spcBef>
                <a:spcPts val="95"/>
              </a:spcBef>
            </a:pPr>
            <a:r>
              <a:rPr lang="pt-BR" sz="1200" b="1" i="1" spc="-20" dirty="0">
                <a:solidFill>
                  <a:srgbClr val="003366"/>
                </a:solidFill>
                <a:latin typeface="Calibri"/>
                <a:cs typeface="Calibri"/>
              </a:rPr>
              <a:t>O agente pode ser utilizado sobre </a:t>
            </a:r>
            <a:r>
              <a:rPr lang="pt-BR" sz="1200" b="1" i="1" spc="-20" dirty="0" err="1">
                <a:solidFill>
                  <a:srgbClr val="003366"/>
                </a:solidFill>
                <a:latin typeface="Calibri"/>
                <a:cs typeface="Calibri"/>
              </a:rPr>
              <a:t>datasets</a:t>
            </a:r>
            <a:r>
              <a:rPr lang="pt-BR" sz="1200" b="1" i="1" spc="-20" dirty="0">
                <a:solidFill>
                  <a:srgbClr val="003366"/>
                </a:solidFill>
                <a:latin typeface="Calibri"/>
                <a:cs typeface="Calibri"/>
              </a:rPr>
              <a:t> contendo informações sensíveis ou pessoais.</a:t>
            </a:r>
          </a:p>
          <a:p>
            <a:pPr marL="217170" algn="just">
              <a:lnSpc>
                <a:spcPct val="100000"/>
              </a:lnSpc>
              <a:spcBef>
                <a:spcPts val="95"/>
              </a:spcBef>
            </a:pPr>
            <a:r>
              <a:rPr lang="pt-BR" sz="1200" b="1" i="1" spc="-20" dirty="0">
                <a:solidFill>
                  <a:srgbClr val="003366"/>
                </a:solidFill>
                <a:latin typeface="Calibri"/>
                <a:cs typeface="Calibri"/>
              </a:rPr>
              <a:t>O envio de dados  para APIs externas exige cautela  e cuidados com privacidade em conformidade com a LGPD.</a:t>
            </a:r>
          </a:p>
          <a:p>
            <a:pPr marL="217170" algn="just">
              <a:lnSpc>
                <a:spcPct val="100000"/>
              </a:lnSpc>
              <a:spcBef>
                <a:spcPts val="95"/>
              </a:spcBef>
            </a:pPr>
            <a:r>
              <a:rPr lang="pt-BR" sz="1200" b="1" i="1" spc="-20" dirty="0">
                <a:solidFill>
                  <a:srgbClr val="003366"/>
                </a:solidFill>
                <a:latin typeface="Calibri"/>
                <a:cs typeface="Calibri"/>
              </a:rPr>
              <a:t>Nunca divulgar o arquivo .</a:t>
            </a:r>
            <a:r>
              <a:rPr lang="pt-BR" sz="1200" b="1" i="1" spc="-20" dirty="0" err="1">
                <a:solidFill>
                  <a:srgbClr val="003366"/>
                </a:solidFill>
                <a:latin typeface="Calibri"/>
                <a:cs typeface="Calibri"/>
              </a:rPr>
              <a:t>env</a:t>
            </a:r>
            <a:r>
              <a:rPr lang="pt-BR" sz="1200" b="1" i="1" spc="-20" dirty="0">
                <a:solidFill>
                  <a:srgbClr val="003366"/>
                </a:solidFill>
                <a:latin typeface="Calibri"/>
                <a:cs typeface="Calibri"/>
              </a:rPr>
              <a:t> contendo a chave  da API.</a:t>
            </a:r>
            <a:endParaRPr sz="1200" i="1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311144" y="3922024"/>
            <a:ext cx="3676650" cy="2579370"/>
            <a:chOff x="8311144" y="3922024"/>
            <a:chExt cx="3676650" cy="2579370"/>
          </a:xfrm>
        </p:grpSpPr>
        <p:sp>
          <p:nvSpPr>
            <p:cNvPr id="19" name="object 19"/>
            <p:cNvSpPr/>
            <p:nvPr/>
          </p:nvSpPr>
          <p:spPr>
            <a:xfrm>
              <a:off x="8320684" y="3931564"/>
              <a:ext cx="3657600" cy="2560320"/>
            </a:xfrm>
            <a:custGeom>
              <a:avLst/>
              <a:gdLst/>
              <a:ahLst/>
              <a:cxnLst/>
              <a:rect l="l" t="t" r="r" b="b"/>
              <a:pathLst>
                <a:path w="3657600" h="2560320">
                  <a:moveTo>
                    <a:pt x="3657231" y="0"/>
                  </a:moveTo>
                  <a:lnTo>
                    <a:pt x="0" y="0"/>
                  </a:lnTo>
                  <a:lnTo>
                    <a:pt x="0" y="2559951"/>
                  </a:lnTo>
                  <a:lnTo>
                    <a:pt x="1828800" y="2559951"/>
                  </a:lnTo>
                  <a:lnTo>
                    <a:pt x="3657231" y="2559951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non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20684" y="3931564"/>
              <a:ext cx="3657600" cy="2560320"/>
            </a:xfrm>
            <a:custGeom>
              <a:avLst/>
              <a:gdLst/>
              <a:ahLst/>
              <a:cxnLst/>
              <a:rect l="l" t="t" r="r" b="b"/>
              <a:pathLst>
                <a:path w="3657600" h="2560320">
                  <a:moveTo>
                    <a:pt x="1828800" y="2559951"/>
                  </a:moveTo>
                  <a:lnTo>
                    <a:pt x="0" y="2559951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2559951"/>
                  </a:lnTo>
                  <a:lnTo>
                    <a:pt x="1828800" y="2559951"/>
                  </a:lnTo>
                  <a:close/>
                </a:path>
              </a:pathLst>
            </a:custGeom>
            <a:ln w="19079">
              <a:solidFill>
                <a:srgbClr val="003366"/>
              </a:solidFill>
            </a:ln>
          </p:spPr>
          <p:txBody>
            <a:bodyPr wrap="non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458199" y="3948790"/>
            <a:ext cx="3513157" cy="229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80" dirty="0">
                <a:solidFill>
                  <a:srgbClr val="003366"/>
                </a:solidFill>
                <a:latin typeface="Segoe UI Symbol"/>
                <a:cs typeface="Segoe UI Symbol"/>
              </a:rPr>
              <a:t>🔮</a:t>
            </a:r>
            <a:r>
              <a:rPr b="1" spc="-135" dirty="0">
                <a:solidFill>
                  <a:srgbClr val="003366"/>
                </a:solidFill>
                <a:latin typeface="Segoe UI Symbol"/>
                <a:cs typeface="Segoe UI Symbol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Calibri"/>
                <a:cs typeface="Calibri"/>
              </a:rPr>
              <a:t>Trabalhos</a:t>
            </a:r>
            <a:r>
              <a:rPr sz="1600" b="1" spc="-6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Calibri"/>
                <a:cs typeface="Calibri"/>
              </a:rPr>
              <a:t>futuros</a:t>
            </a:r>
            <a:endParaRPr sz="1600" b="1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65"/>
              </a:spcBef>
            </a:pPr>
            <a:r>
              <a:rPr lang="pt-BR" sz="1200" b="1" i="1" dirty="0">
                <a:solidFill>
                  <a:srgbClr val="191919"/>
                </a:solidFill>
                <a:latin typeface="Calibri"/>
                <a:cs typeface="Calibri"/>
              </a:rPr>
              <a:t>Expandir o projeto para mais </a:t>
            </a:r>
            <a:r>
              <a:rPr lang="pt-BR" sz="1200" b="1" i="1" dirty="0" err="1">
                <a:solidFill>
                  <a:srgbClr val="191919"/>
                </a:solidFill>
                <a:latin typeface="Calibri"/>
                <a:cs typeface="Calibri"/>
              </a:rPr>
              <a:t>datasets</a:t>
            </a:r>
            <a:endParaRPr lang="pt-BR" sz="1200" b="1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65"/>
              </a:spcBef>
            </a:pPr>
            <a:endParaRPr lang="pt-BR" sz="1200" b="1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65"/>
              </a:spcBef>
            </a:pPr>
            <a:r>
              <a:rPr lang="pt-BR" sz="1200" b="1" i="1" dirty="0">
                <a:solidFill>
                  <a:srgbClr val="191919"/>
                </a:solidFill>
                <a:latin typeface="Calibri"/>
                <a:cs typeface="Calibri"/>
              </a:rPr>
              <a:t>Criar novas tools</a:t>
            </a:r>
          </a:p>
          <a:p>
            <a:pPr marL="12700" marR="5080">
              <a:lnSpc>
                <a:spcPct val="100000"/>
              </a:lnSpc>
              <a:spcBef>
                <a:spcPts val="1265"/>
              </a:spcBef>
            </a:pPr>
            <a:endParaRPr lang="pt-BR" sz="1200" b="1" i="1" dirty="0">
              <a:solidFill>
                <a:srgbClr val="191919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265"/>
              </a:spcBef>
            </a:pPr>
            <a:r>
              <a:rPr lang="pt-BR" sz="1200" b="1" i="1" dirty="0">
                <a:solidFill>
                  <a:srgbClr val="191919"/>
                </a:solidFill>
                <a:latin typeface="Calibri"/>
                <a:cs typeface="Calibri"/>
              </a:rPr>
              <a:t>Implementação em larga escala (Ainda em nível acadêmico).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16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AB00E-1657-E080-D372-8FDE0EE8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44" y="200418"/>
            <a:ext cx="5201920" cy="400110"/>
          </a:xfrm>
        </p:spPr>
        <p:txBody>
          <a:bodyPr/>
          <a:lstStyle/>
          <a:p>
            <a:r>
              <a:rPr lang="pt-BR" dirty="0"/>
              <a:t>Custo Total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453E08-5727-87DB-81F6-D6093AE1E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41" y="1094421"/>
            <a:ext cx="11329035" cy="276999"/>
          </a:xfrm>
        </p:spPr>
        <p:txBody>
          <a:bodyPr/>
          <a:lstStyle/>
          <a:p>
            <a:r>
              <a:rPr lang="pt-BR" dirty="0"/>
              <a:t>Total gasto entre 04/06/2026 e 09/06/2026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61A19E-14A3-792D-74BD-00DDB76B2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606" y="1524000"/>
            <a:ext cx="9288787" cy="487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03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17165-E37E-18F7-807F-FA9B3362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144" y="200418"/>
            <a:ext cx="10681056" cy="1200329"/>
          </a:xfrm>
        </p:spPr>
        <p:txBody>
          <a:bodyPr/>
          <a:lstStyle/>
          <a:p>
            <a:r>
              <a:rPr lang="pt-BR" dirty="0"/>
              <a:t>Por que o custo estimado não bate exatamente com o painel da </a:t>
            </a:r>
            <a:r>
              <a:rPr lang="pt-BR" dirty="0" err="1"/>
              <a:t>DeepSeek</a:t>
            </a:r>
            <a:r>
              <a:rPr lang="pt-BR" dirty="0"/>
              <a:t>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46ECD0-3A18-ABAD-0E98-3EFA20542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144" y="1295400"/>
            <a:ext cx="11329035" cy="1107996"/>
          </a:xfrm>
        </p:spPr>
        <p:txBody>
          <a:bodyPr/>
          <a:lstStyle/>
          <a:p>
            <a:pPr algn="just"/>
            <a:r>
              <a:rPr lang="pt-BR" dirty="0"/>
              <a:t>O sistema estima o custo a partir da quantidade de tokens processados e dos preços públicos do modelo. Entretanto, o valor efetivamente cobrado pela </a:t>
            </a:r>
            <a:r>
              <a:rPr lang="pt-BR" dirty="0" err="1"/>
              <a:t>DeepSeek</a:t>
            </a:r>
            <a:r>
              <a:rPr lang="pt-BR" dirty="0"/>
              <a:t> pode ser menor devido a mecanismos de cache de contexto (cache hit), reutilização de partes do prompt e políticas internas de cobrança. Por isso o custo apresentado pelo projeto deve ser interpretado como uma estimativa.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81F2A3-8D7F-50A4-B22E-335396AF8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591" y="2375964"/>
            <a:ext cx="6088818" cy="442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31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</a:t>
            </a:r>
            <a:r>
              <a:rPr spc="-25" dirty="0"/>
              <a:t> </a:t>
            </a:r>
            <a:r>
              <a:rPr spc="-10" dirty="0"/>
              <a:t>Conclusões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4136" y="1236510"/>
            <a:ext cx="26917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O</a:t>
            </a:r>
            <a:r>
              <a:rPr sz="1600" b="1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que</a:t>
            </a:r>
            <a:r>
              <a:rPr sz="1600" b="1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Calibri"/>
                <a:cs typeface="Calibri"/>
              </a:rPr>
              <a:t>conseguimos</a:t>
            </a:r>
            <a:r>
              <a:rPr sz="1600" b="1" spc="-2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Calibri"/>
                <a:cs typeface="Calibri"/>
              </a:rPr>
              <a:t>demonstrar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4136" y="2023752"/>
            <a:ext cx="6264008" cy="966931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355600" algn="l"/>
              </a:tabLst>
            </a:pPr>
            <a:r>
              <a:rPr lang="pt-BR" sz="1400" dirty="0"/>
              <a:t>É possível realizar EDA usando linguagem natural.</a:t>
            </a:r>
            <a:endParaRPr sz="1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355600" algn="l"/>
              </a:tabLst>
            </a:pPr>
            <a:r>
              <a:rPr lang="pt-BR" sz="1400" dirty="0"/>
              <a:t>Ferramentas reduzem alucinações e aumentam confiabilidade.</a:t>
            </a: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355600" algn="l"/>
              </a:tabLst>
            </a:pPr>
            <a:r>
              <a:rPr lang="pt-BR" sz="1400" dirty="0"/>
              <a:t>O benchmark permitiu avaliar o desempenho de forma objetiva.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136" y="3705390"/>
            <a:ext cx="18338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Principal</a:t>
            </a:r>
            <a:r>
              <a:rPr sz="1600" b="1" spc="-6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3366"/>
                </a:solidFill>
                <a:latin typeface="Calibri"/>
                <a:cs typeface="Calibri"/>
              </a:rPr>
              <a:t>lição</a:t>
            </a:r>
            <a:r>
              <a:rPr sz="1600" b="1" spc="-7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Calibri"/>
                <a:cs typeface="Calibri"/>
              </a:rPr>
              <a:t>técnica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844" y="4114444"/>
            <a:ext cx="11247120" cy="1224000"/>
          </a:xfrm>
          <a:custGeom>
            <a:avLst/>
            <a:gdLst/>
            <a:ahLst/>
            <a:cxnLst/>
            <a:rect l="l" t="t" r="r" b="b"/>
            <a:pathLst>
              <a:path w="11247120" h="1371600">
                <a:moveTo>
                  <a:pt x="11246751" y="0"/>
                </a:moveTo>
                <a:lnTo>
                  <a:pt x="0" y="0"/>
                </a:lnTo>
                <a:lnTo>
                  <a:pt x="0" y="1371231"/>
                </a:lnTo>
                <a:lnTo>
                  <a:pt x="5623560" y="1371231"/>
                </a:lnTo>
                <a:lnTo>
                  <a:pt x="11246751" y="1371231"/>
                </a:lnTo>
                <a:lnTo>
                  <a:pt x="1124675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6844" y="4114443"/>
            <a:ext cx="11247120" cy="1224000"/>
          </a:xfrm>
          <a:prstGeom prst="rect">
            <a:avLst/>
          </a:prstGeom>
          <a:ln w="12599">
            <a:solidFill>
              <a:srgbClr val="C74F13"/>
            </a:solidFill>
          </a:ln>
        </p:spPr>
        <p:txBody>
          <a:bodyPr vert="horz" wrap="square" lIns="0" tIns="2076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3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272415" marR="951230">
              <a:lnSpc>
                <a:spcPct val="100000"/>
              </a:lnSpc>
              <a:spcBef>
                <a:spcPts val="5"/>
              </a:spcBef>
            </a:pPr>
            <a:r>
              <a:rPr lang="pt-BR" sz="1600" i="1" dirty="0">
                <a:latin typeface="+mj-lt"/>
              </a:rPr>
              <a:t>"Modelos de linguagem interpretam perguntas, mas ferramentas garantem que as respostas sejam calculadas sobre dados reais.”</a:t>
            </a:r>
            <a:endParaRPr sz="1600" i="1" dirty="0">
              <a:latin typeface="+mj-lt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1275097" y="6507344"/>
            <a:ext cx="35179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19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spc="-25" dirty="0"/>
              <a:t>1</a:t>
            </a:r>
            <a:r>
              <a:rPr lang="pt-BR" spc="-25" dirty="0"/>
              <a:t>8</a:t>
            </a:r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Referências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EE6DBCE-439B-3FC3-CC3E-0B2F85400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63924"/>
            <a:ext cx="11329035" cy="4839145"/>
          </a:xfrm>
        </p:spPr>
        <p:txBody>
          <a:bodyPr/>
          <a:lstStyle/>
          <a:p>
            <a:pPr marL="12700" marR="5080">
              <a:lnSpc>
                <a:spcPct val="238800"/>
              </a:lnSpc>
            </a:pPr>
            <a:r>
              <a:rPr lang="pt-BR" sz="1100" b="1" i="1" spc="-10" dirty="0">
                <a:solidFill>
                  <a:srgbClr val="191919"/>
                </a:solidFill>
                <a:latin typeface="+mj-lt"/>
                <a:cs typeface="Calibri"/>
              </a:rPr>
              <a:t>DEEPSEEK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. </a:t>
            </a:r>
            <a:r>
              <a:rPr lang="pt-BR" sz="1100" i="1" spc="-10" dirty="0" err="1">
                <a:solidFill>
                  <a:srgbClr val="191919"/>
                </a:solidFill>
                <a:latin typeface="+mj-lt"/>
                <a:cs typeface="Calibri"/>
              </a:rPr>
              <a:t>DeepSeek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 API </a:t>
            </a:r>
            <a:r>
              <a:rPr lang="pt-BR" sz="1100" i="1" spc="-10" dirty="0" err="1">
                <a:solidFill>
                  <a:srgbClr val="191919"/>
                </a:solidFill>
                <a:latin typeface="+mj-lt"/>
                <a:cs typeface="Calibri"/>
              </a:rPr>
              <a:t>Documentation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. Documentação da API </a:t>
            </a:r>
            <a:r>
              <a:rPr lang="pt-BR" sz="1100" i="1" spc="-10" dirty="0" err="1">
                <a:solidFill>
                  <a:srgbClr val="191919"/>
                </a:solidFill>
                <a:latin typeface="+mj-lt"/>
                <a:cs typeface="Calibri"/>
              </a:rPr>
              <a:t>DeepSeek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. Disponível em: https://api-docs.deepseek.com/. Acesso em: 2026. </a:t>
            </a:r>
          </a:p>
          <a:p>
            <a:pPr marL="12700" marR="5080">
              <a:lnSpc>
                <a:spcPct val="238800"/>
              </a:lnSpc>
            </a:pPr>
            <a:r>
              <a:rPr lang="pt-BR" sz="1100" b="1" i="1" spc="-10" dirty="0">
                <a:solidFill>
                  <a:srgbClr val="191919"/>
                </a:solidFill>
                <a:latin typeface="+mj-lt"/>
                <a:cs typeface="Calibri"/>
              </a:rPr>
              <a:t>MCKINNEY, Wes.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 Python for Data </a:t>
            </a:r>
            <a:r>
              <a:rPr lang="pt-BR" sz="1100" i="1" spc="-10" dirty="0" err="1">
                <a:solidFill>
                  <a:srgbClr val="191919"/>
                </a:solidFill>
                <a:latin typeface="+mj-lt"/>
                <a:cs typeface="Calibri"/>
              </a:rPr>
              <a:t>Analysis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. 3. ed. Sebastopol: O’Reilly Media, 2022. PANDAS DEVELOPMENT TEAM. Pandas </a:t>
            </a:r>
            <a:r>
              <a:rPr lang="pt-BR" sz="1100" i="1" spc="-10" dirty="0" err="1">
                <a:solidFill>
                  <a:srgbClr val="191919"/>
                </a:solidFill>
                <a:latin typeface="+mj-lt"/>
                <a:cs typeface="Calibri"/>
              </a:rPr>
              <a:t>documentation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. Disponível em: https://pandas.pydata.org/</a:t>
            </a:r>
            <a:r>
              <a:rPr lang="pt-BR" sz="1100" i="1" spc="-10" dirty="0" err="1">
                <a:solidFill>
                  <a:srgbClr val="191919"/>
                </a:solidFill>
                <a:latin typeface="+mj-lt"/>
                <a:cs typeface="Calibri"/>
              </a:rPr>
              <a:t>docs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/. Acesso em: 2026. </a:t>
            </a:r>
          </a:p>
          <a:p>
            <a:pPr marL="12700" marR="5080">
              <a:lnSpc>
                <a:spcPct val="238800"/>
              </a:lnSpc>
            </a:pPr>
            <a:r>
              <a:rPr lang="pt-BR" sz="1100" b="1" i="1" spc="-10" dirty="0">
                <a:solidFill>
                  <a:srgbClr val="191919"/>
                </a:solidFill>
                <a:latin typeface="+mj-lt"/>
                <a:cs typeface="Calibri"/>
              </a:rPr>
              <a:t>STREAMLIT.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 </a:t>
            </a:r>
            <a:r>
              <a:rPr lang="pt-BR" sz="1100" i="1" spc="-10" dirty="0" err="1">
                <a:solidFill>
                  <a:srgbClr val="191919"/>
                </a:solidFill>
                <a:latin typeface="+mj-lt"/>
                <a:cs typeface="Calibri"/>
              </a:rPr>
              <a:t>Streamlit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 </a:t>
            </a:r>
            <a:r>
              <a:rPr lang="pt-BR" sz="1100" i="1" spc="-10" dirty="0" err="1">
                <a:solidFill>
                  <a:srgbClr val="191919"/>
                </a:solidFill>
                <a:latin typeface="+mj-lt"/>
                <a:cs typeface="Calibri"/>
              </a:rPr>
              <a:t>documentation</a:t>
            </a:r>
            <a:r>
              <a:rPr lang="pt-BR" sz="1100" i="1" spc="-10" dirty="0">
                <a:solidFill>
                  <a:srgbClr val="191919"/>
                </a:solidFill>
                <a:latin typeface="+mj-lt"/>
                <a:cs typeface="Calibri"/>
              </a:rPr>
              <a:t>. Disponível em: https://docs.streamlit.io/. Acesso em: 2026. </a:t>
            </a:r>
          </a:p>
          <a:p>
            <a:pPr marL="12700" marR="5080">
              <a:lnSpc>
                <a:spcPct val="238800"/>
              </a:lnSpc>
            </a:pPr>
            <a:r>
              <a:rPr lang="pt-BR" sz="1100" b="1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DEEPSEEK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.. Disponível em: 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https://api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-docs.deepseek.com/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news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/news0802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DeepSeek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API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introduces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Caching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Disk,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cutting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prices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100" i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pt-BR" sz="1100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of magnitude. </a:t>
            </a:r>
            <a:r>
              <a:rPr lang="pt-BR" sz="1100" i="1" dirty="0">
                <a:ea typeface="Calibri" panose="020F0502020204030204" pitchFamily="34" charset="0"/>
                <a:cs typeface="Calibri" panose="020F0502020204030204" pitchFamily="34" charset="0"/>
              </a:rPr>
              <a:t>Acesso em: 9 jun. 2026</a:t>
            </a:r>
            <a:endParaRPr lang="pt-BR" sz="1100" i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pt-BR" sz="1100" b="1" spc="-10" dirty="0">
              <a:solidFill>
                <a:srgbClr val="191919"/>
              </a:solidFill>
              <a:latin typeface="+mj-lt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pt-BR" sz="1100" b="1" spc="-10" dirty="0">
                <a:solidFill>
                  <a:srgbClr val="191919"/>
                </a:solidFill>
                <a:latin typeface="+mj-lt"/>
                <a:cs typeface="Calibri"/>
              </a:rPr>
              <a:t>Repositório</a:t>
            </a:r>
            <a:r>
              <a:rPr lang="pt-BR" sz="1100" b="1" spc="-25" dirty="0">
                <a:solidFill>
                  <a:srgbClr val="191919"/>
                </a:solidFill>
                <a:latin typeface="+mj-lt"/>
                <a:cs typeface="Calibri"/>
              </a:rPr>
              <a:t> </a:t>
            </a:r>
            <a:r>
              <a:rPr lang="pt-BR" sz="1100" b="1" dirty="0">
                <a:solidFill>
                  <a:srgbClr val="191919"/>
                </a:solidFill>
                <a:latin typeface="+mj-lt"/>
                <a:cs typeface="Calibri"/>
              </a:rPr>
              <a:t>do</a:t>
            </a:r>
            <a:r>
              <a:rPr lang="pt-BR" sz="1100" b="1" spc="-30" dirty="0">
                <a:solidFill>
                  <a:srgbClr val="191919"/>
                </a:solidFill>
                <a:latin typeface="+mj-lt"/>
                <a:cs typeface="Calibri"/>
              </a:rPr>
              <a:t> </a:t>
            </a:r>
            <a:r>
              <a:rPr lang="pt-BR" sz="1100" b="1" spc="-10" dirty="0">
                <a:solidFill>
                  <a:srgbClr val="191919"/>
                </a:solidFill>
                <a:latin typeface="+mj-lt"/>
                <a:cs typeface="Calibri"/>
              </a:rPr>
              <a:t>projeto:</a:t>
            </a:r>
          </a:p>
          <a:p>
            <a:pPr marL="12700">
              <a:lnSpc>
                <a:spcPct val="100000"/>
              </a:lnSpc>
            </a:pPr>
            <a:r>
              <a:rPr lang="pt-BR" sz="1100" spc="-10" dirty="0">
                <a:latin typeface="+mj-lt"/>
                <a:cs typeface="Courier New"/>
              </a:rPr>
              <a:t>https://github.com/</a:t>
            </a:r>
            <a:r>
              <a:rPr lang="pt-BR" sz="1100" spc="-10" dirty="0" err="1">
                <a:latin typeface="+mj-lt"/>
                <a:cs typeface="Courier New"/>
              </a:rPr>
              <a:t>rmansano</a:t>
            </a:r>
            <a:r>
              <a:rPr lang="pt-BR" sz="1100" spc="-10" dirty="0">
                <a:latin typeface="+mj-lt"/>
                <a:cs typeface="Courier New"/>
              </a:rPr>
              <a:t>/</a:t>
            </a:r>
            <a:r>
              <a:rPr lang="pt-BR" sz="1100" spc="-10" dirty="0" err="1">
                <a:latin typeface="+mj-lt"/>
                <a:cs typeface="Courier New"/>
              </a:rPr>
              <a:t>projeto_agente_eda</a:t>
            </a:r>
            <a:r>
              <a:rPr lang="pt-BR" sz="1100" spc="-10" dirty="0">
                <a:latin typeface="+mj-lt"/>
                <a:cs typeface="Courier New"/>
              </a:rPr>
              <a:t>/</a:t>
            </a:r>
            <a:r>
              <a:rPr lang="pt-BR" sz="1100" spc="-10" dirty="0" err="1">
                <a:latin typeface="+mj-lt"/>
                <a:cs typeface="Courier New"/>
              </a:rPr>
              <a:t>tree</a:t>
            </a:r>
            <a:r>
              <a:rPr lang="pt-BR" sz="1100" spc="-10" dirty="0">
                <a:latin typeface="+mj-lt"/>
                <a:cs typeface="Courier New"/>
              </a:rPr>
              <a:t>/</a:t>
            </a:r>
            <a:r>
              <a:rPr lang="pt-BR" sz="1100" spc="-10" dirty="0" err="1">
                <a:latin typeface="+mj-lt"/>
                <a:cs typeface="Courier New"/>
              </a:rPr>
              <a:t>main</a:t>
            </a:r>
            <a:r>
              <a:rPr lang="pt-BR" sz="1100" i="1" spc="-10" dirty="0">
                <a:latin typeface="+mj-lt"/>
                <a:cs typeface="Calibri"/>
              </a:rPr>
              <a:t>]</a:t>
            </a:r>
            <a:endParaRPr lang="pt-BR" sz="1100" dirty="0">
              <a:latin typeface="+mj-lt"/>
              <a:cs typeface="Calibri"/>
            </a:endParaRPr>
          </a:p>
          <a:p>
            <a:endParaRPr lang="pt-BR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Fatec</a:t>
            </a:r>
            <a:r>
              <a:rPr spc="-30" dirty="0"/>
              <a:t> </a:t>
            </a:r>
            <a:r>
              <a:rPr dirty="0"/>
              <a:t>Ourinhos</a:t>
            </a:r>
            <a:r>
              <a:rPr spc="-10" dirty="0"/>
              <a:t> </a:t>
            </a:r>
            <a:r>
              <a:rPr dirty="0"/>
              <a:t>|</a:t>
            </a:r>
            <a:r>
              <a:rPr spc="-30" dirty="0"/>
              <a:t> </a:t>
            </a:r>
            <a:r>
              <a:rPr dirty="0"/>
              <a:t>Ciência</a:t>
            </a:r>
            <a:r>
              <a:rPr spc="-1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20" dirty="0"/>
              <a:t>Dados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Trabalho</a:t>
            </a:r>
            <a:r>
              <a:rPr spc="-25" dirty="0"/>
              <a:t> </a:t>
            </a:r>
            <a:r>
              <a:rPr dirty="0"/>
              <a:t>Final</a:t>
            </a:r>
            <a:r>
              <a:rPr spc="-5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dirty="0"/>
              <a:t>5º</a:t>
            </a:r>
            <a:r>
              <a:rPr spc="-10" dirty="0"/>
              <a:t> Semestre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20</a:t>
            </a:fld>
            <a:r>
              <a:rPr spc="-15" dirty="0"/>
              <a:t> </a:t>
            </a:r>
            <a:r>
              <a:rPr dirty="0"/>
              <a:t>/</a:t>
            </a:r>
            <a:r>
              <a:rPr spc="5" dirty="0"/>
              <a:t> </a:t>
            </a:r>
            <a:r>
              <a:rPr lang="pt-BR" spc="-25" dirty="0"/>
              <a:t>18</a:t>
            </a:r>
            <a:endParaRPr spc="-25" dirty="0"/>
          </a:p>
        </p:txBody>
      </p:sp>
      <p:sp>
        <p:nvSpPr>
          <p:cNvPr id="3" name="object 3"/>
          <p:cNvSpPr/>
          <p:nvPr/>
        </p:nvSpPr>
        <p:spPr>
          <a:xfrm>
            <a:off x="457200" y="6400800"/>
            <a:ext cx="11247120" cy="635"/>
          </a:xfrm>
          <a:custGeom>
            <a:avLst/>
            <a:gdLst/>
            <a:ahLst/>
            <a:cxnLst/>
            <a:rect l="l" t="t" r="r" b="b"/>
            <a:pathLst>
              <a:path w="11247120" h="635">
                <a:moveTo>
                  <a:pt x="0" y="0"/>
                </a:moveTo>
                <a:lnTo>
                  <a:pt x="11247120" y="355"/>
                </a:lnTo>
              </a:path>
            </a:pathLst>
          </a:custGeom>
          <a:ln w="6479">
            <a:solidFill>
              <a:srgbClr val="C7C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310" y="0"/>
            <a:ext cx="12174220" cy="6870700"/>
            <a:chOff x="-6705" y="-6705"/>
            <a:chExt cx="12174220" cy="6870700"/>
          </a:xfrm>
        </p:grpSpPr>
        <p:sp>
          <p:nvSpPr>
            <p:cNvPr id="3" name="object 3"/>
            <p:cNvSpPr/>
            <p:nvPr/>
          </p:nvSpPr>
          <p:spPr>
            <a:xfrm>
              <a:off x="-355" y="-355"/>
              <a:ext cx="12161520" cy="6858000"/>
            </a:xfrm>
            <a:custGeom>
              <a:avLst/>
              <a:gdLst/>
              <a:ahLst/>
              <a:cxnLst/>
              <a:rect l="l" t="t" r="r" b="b"/>
              <a:pathLst>
                <a:path w="12161520" h="6858000">
                  <a:moveTo>
                    <a:pt x="12161151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6080760" y="6857631"/>
                  </a:lnTo>
                  <a:lnTo>
                    <a:pt x="12161151" y="6857631"/>
                  </a:lnTo>
                  <a:lnTo>
                    <a:pt x="12161151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-355"/>
              <a:ext cx="12161520" cy="6858000"/>
            </a:xfrm>
            <a:custGeom>
              <a:avLst/>
              <a:gdLst/>
              <a:ahLst/>
              <a:cxnLst/>
              <a:rect l="l" t="t" r="r" b="b"/>
              <a:pathLst>
                <a:path w="12161520" h="6858000">
                  <a:moveTo>
                    <a:pt x="6080760" y="6857631"/>
                  </a:moveTo>
                  <a:lnTo>
                    <a:pt x="0" y="6857631"/>
                  </a:lnTo>
                  <a:lnTo>
                    <a:pt x="0" y="0"/>
                  </a:lnTo>
                  <a:lnTo>
                    <a:pt x="12161151" y="0"/>
                  </a:lnTo>
                  <a:lnTo>
                    <a:pt x="12161151" y="6857631"/>
                  </a:lnTo>
                  <a:lnTo>
                    <a:pt x="6080760" y="6857631"/>
                  </a:lnTo>
                  <a:close/>
                </a:path>
              </a:pathLst>
            </a:custGeom>
            <a:ln w="1259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32745" y="2349258"/>
            <a:ext cx="469011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40" dirty="0"/>
              <a:t>Perguntas?</a:t>
            </a:r>
            <a:endParaRPr sz="8000"/>
          </a:p>
        </p:txBody>
      </p:sp>
      <p:sp>
        <p:nvSpPr>
          <p:cNvPr id="6" name="object 6"/>
          <p:cNvSpPr/>
          <p:nvPr/>
        </p:nvSpPr>
        <p:spPr>
          <a:xfrm>
            <a:off x="5166359" y="4023359"/>
            <a:ext cx="1828800" cy="635"/>
          </a:xfrm>
          <a:custGeom>
            <a:avLst/>
            <a:gdLst/>
            <a:ahLst/>
            <a:cxnLst/>
            <a:rect l="l" t="t" r="r" b="b"/>
            <a:pathLst>
              <a:path w="1828800" h="635">
                <a:moveTo>
                  <a:pt x="0" y="0"/>
                </a:moveTo>
                <a:lnTo>
                  <a:pt x="1828799" y="355"/>
                </a:lnTo>
              </a:path>
            </a:pathLst>
          </a:custGeom>
          <a:ln w="38159">
            <a:solidFill>
              <a:srgbClr val="C74F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14600" y="4343400"/>
            <a:ext cx="7451979" cy="73674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Repositório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do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projeto</a:t>
            </a:r>
            <a:endParaRPr sz="1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600" b="1" spc="-10" dirty="0">
                <a:solidFill>
                  <a:srgbClr val="C74F13"/>
                </a:solidFill>
                <a:latin typeface="Courier New"/>
                <a:cs typeface="Courier New"/>
              </a:rPr>
              <a:t>[</a:t>
            </a:r>
            <a:r>
              <a:rPr lang="pt-BR" sz="1600" b="1" spc="-10" dirty="0">
                <a:solidFill>
                  <a:srgbClr val="C74F13"/>
                </a:solidFill>
                <a:latin typeface="Courier New"/>
                <a:cs typeface="Courier New"/>
              </a:rPr>
              <a:t>https://github.com/rmansano/projeto_agente_eda/tree/main</a:t>
            </a:r>
            <a:r>
              <a:rPr sz="1600" b="1" spc="-10" dirty="0">
                <a:solidFill>
                  <a:srgbClr val="C74F13"/>
                </a:solidFill>
                <a:latin typeface="Courier New"/>
                <a:cs typeface="Courier New"/>
              </a:rPr>
              <a:t>]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1679" y="5570637"/>
            <a:ext cx="496864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solidFill>
                  <a:schemeClr val="bg1"/>
                </a:solidFill>
                <a:latin typeface="+mj-lt"/>
                <a:cs typeface="Calibri"/>
              </a:rPr>
              <a:t>Grupo:</a:t>
            </a:r>
            <a:r>
              <a:rPr sz="1600" i="1" spc="-30" dirty="0">
                <a:solidFill>
                  <a:schemeClr val="bg1"/>
                </a:solidFill>
                <a:latin typeface="+mj-lt"/>
                <a:cs typeface="Calibri"/>
              </a:rPr>
              <a:t> </a:t>
            </a:r>
            <a:r>
              <a:rPr lang="pt-BR" sz="1600" i="1" dirty="0">
                <a:solidFill>
                  <a:schemeClr val="bg1"/>
                </a:solidFill>
                <a:latin typeface="+mj-lt"/>
              </a:rPr>
              <a:t>Rafael Marques Mansano</a:t>
            </a:r>
            <a:r>
              <a:rPr sz="1600" i="1" dirty="0">
                <a:solidFill>
                  <a:schemeClr val="bg1"/>
                </a:solidFill>
                <a:latin typeface="+mj-lt"/>
                <a:cs typeface="Calibri"/>
              </a:rPr>
              <a:t>|</a:t>
            </a:r>
            <a:r>
              <a:rPr sz="1600" i="1" spc="-25" dirty="0">
                <a:solidFill>
                  <a:schemeClr val="bg1"/>
                </a:solidFill>
                <a:latin typeface="+mj-lt"/>
                <a:cs typeface="Calibri"/>
              </a:rPr>
              <a:t> </a:t>
            </a:r>
            <a:r>
              <a:rPr lang="pt-BR" sz="1600" i="1" dirty="0">
                <a:solidFill>
                  <a:schemeClr val="bg1"/>
                </a:solidFill>
                <a:latin typeface="+mj-lt"/>
              </a:rPr>
              <a:t>Vinicius de Oliveira Silva</a:t>
            </a:r>
            <a:endParaRPr sz="1600" i="1" dirty="0">
              <a:solidFill>
                <a:schemeClr val="bg1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1389</Words>
  <Application>Microsoft Office PowerPoint</Application>
  <PresentationFormat>Widescreen</PresentationFormat>
  <Paragraphs>261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Meiryo UI</vt:lpstr>
      <vt:lpstr>Arial</vt:lpstr>
      <vt:lpstr>Calibri</vt:lpstr>
      <vt:lpstr>Courier New</vt:lpstr>
      <vt:lpstr>Segoe UI Symbol</vt:lpstr>
      <vt:lpstr>Times New Roman</vt:lpstr>
      <vt:lpstr>Office Theme</vt:lpstr>
      <vt:lpstr>Agente de Análise Exploratória de Dados em Linguagem Natural</vt:lpstr>
      <vt:lpstr>Agenda</vt:lpstr>
      <vt:lpstr>1. O problema e a motivação</vt:lpstr>
      <vt:lpstr>2. O dataset escolhido</vt:lpstr>
      <vt:lpstr>3. Arquitetura do agente</vt:lpstr>
      <vt:lpstr>4. Ferramentas implementadas</vt:lpstr>
      <vt:lpstr>DEMONSTRAÇÃO AO VIVO</vt:lpstr>
      <vt:lpstr>6. Conjunto de avaliação (benchmark)</vt:lpstr>
      <vt:lpstr>Exemplo</vt:lpstr>
      <vt:lpstr>7. Resultados quantitativos</vt:lpstr>
      <vt:lpstr>8. Análise de trajetórias</vt:lpstr>
      <vt:lpstr>8. Análise de trajetórias – Tool listar_colunas</vt:lpstr>
      <vt:lpstr>8. Análise de trajetórias – Tool agrupar_e_agregar</vt:lpstr>
      <vt:lpstr>8. Análise de erros</vt:lpstr>
      <vt:lpstr>8. Análise de erros - Exemplo</vt:lpstr>
      <vt:lpstr>9. Discussão crítica</vt:lpstr>
      <vt:lpstr>Custo Total</vt:lpstr>
      <vt:lpstr>Por que o custo estimado não bate exatamente com o painel da DeepSeek?</vt:lpstr>
      <vt:lpstr>10. Conclusões</vt:lpstr>
      <vt:lpstr>Referências</vt:lpstr>
      <vt:lpstr>Perguntas?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- Trabalho Final ADS</dc:title>
  <dc:subject>Agente de Análise Exploratória de Dados</dc:subject>
  <dc:creator>Fatec Ourinhos - Ciência de Dados</dc:creator>
  <cp:lastModifiedBy>RAFAEL MARQUES MANSANO</cp:lastModifiedBy>
  <cp:revision>55</cp:revision>
  <dcterms:created xsi:type="dcterms:W3CDTF">2026-06-08T13:35:49Z</dcterms:created>
  <dcterms:modified xsi:type="dcterms:W3CDTF">2026-06-09T14:17:08Z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2026-05-28T00:00:00Z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2026-05-28T00:00:00Z</vt:filetime>
  </property>
</Properties>
</file>